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31"/>
  </p:notesMasterIdLst>
  <p:handoutMasterIdLst>
    <p:handoutMasterId r:id="rId32"/>
  </p:handoutMasterIdLst>
  <p:sldIdLst>
    <p:sldId id="295" r:id="rId5"/>
    <p:sldId id="2147474066" r:id="rId6"/>
    <p:sldId id="2147474067" r:id="rId7"/>
    <p:sldId id="2147474060" r:id="rId8"/>
    <p:sldId id="2147474087" r:id="rId9"/>
    <p:sldId id="2147474071" r:id="rId10"/>
    <p:sldId id="2147474088" r:id="rId11"/>
    <p:sldId id="2147474089" r:id="rId12"/>
    <p:sldId id="2147474081" r:id="rId13"/>
    <p:sldId id="2147474073" r:id="rId14"/>
    <p:sldId id="2147474074" r:id="rId15"/>
    <p:sldId id="2147474075" r:id="rId16"/>
    <p:sldId id="2147474090" r:id="rId17"/>
    <p:sldId id="2147474082" r:id="rId18"/>
    <p:sldId id="2147474076" r:id="rId19"/>
    <p:sldId id="2147474077" r:id="rId20"/>
    <p:sldId id="2147474079" r:id="rId21"/>
    <p:sldId id="2147474083" r:id="rId22"/>
    <p:sldId id="2147474080" r:id="rId23"/>
    <p:sldId id="2147474091" r:id="rId24"/>
    <p:sldId id="2147474092" r:id="rId25"/>
    <p:sldId id="2147474086" r:id="rId26"/>
    <p:sldId id="2147474084" r:id="rId27"/>
    <p:sldId id="2147474085" r:id="rId28"/>
    <p:sldId id="2147474093" r:id="rId29"/>
    <p:sldId id="257" r:id="rId30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  <p14:sldId id="2147474066"/>
            <p14:sldId id="2147474067"/>
            <p14:sldId id="2147474060"/>
            <p14:sldId id="2147474087"/>
            <p14:sldId id="2147474071"/>
            <p14:sldId id="2147474088"/>
            <p14:sldId id="2147474089"/>
            <p14:sldId id="2147474081"/>
            <p14:sldId id="2147474073"/>
            <p14:sldId id="2147474074"/>
            <p14:sldId id="2147474075"/>
            <p14:sldId id="2147474090"/>
            <p14:sldId id="2147474082"/>
            <p14:sldId id="2147474076"/>
            <p14:sldId id="2147474077"/>
            <p14:sldId id="2147474079"/>
            <p14:sldId id="2147474083"/>
            <p14:sldId id="2147474080"/>
            <p14:sldId id="2147474091"/>
            <p14:sldId id="2147474092"/>
            <p14:sldId id="2147474086"/>
            <p14:sldId id="2147474084"/>
            <p14:sldId id="2147474085"/>
            <p14:sldId id="2147474093"/>
          </p14:sldIdLst>
        </p14:section>
        <p14:section name="Fin" id="{9CF3C226-B334-4E16-8AF2-95D0DE59AB66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97BCFF"/>
    <a:srgbClr val="003594"/>
    <a:srgbClr val="507BC8"/>
    <a:srgbClr val="82AAFF"/>
    <a:srgbClr val="DA0CFC"/>
    <a:srgbClr val="F2F2F2"/>
    <a:srgbClr val="BA6220"/>
    <a:srgbClr val="BC781E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75126" autoAdjust="0"/>
  </p:normalViewPr>
  <p:slideViewPr>
    <p:cSldViewPr>
      <p:cViewPr varScale="1">
        <p:scale>
          <a:sx n="77" d="100"/>
          <a:sy n="77" d="100"/>
        </p:scale>
        <p:origin x="1195" y="-302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69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nos centraremos en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0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B9B6-D73E-A379-E57B-CBFB71F0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67B875-D5C2-2723-1CE9-6D34D191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56AFEC-5393-2AAF-E583-0B9EE0C61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498778-67CF-57C5-9858-38F8BC60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77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9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6B9B-AA6F-B4DA-E37D-A14EF7BE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882F59-54B2-A1D2-E1BF-9654114BB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E6BAD4-D23F-AEF0-69AD-AA3F03200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0DBF9C-54F1-EBE6-BBB0-584FF2492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93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Con delta </a:t>
            </a:r>
            <a:r>
              <a:rPr lang="es-ES" sz="1200" dirty="0" err="1"/>
              <a:t>sharing</a:t>
            </a:r>
            <a:r>
              <a:rPr lang="es-ES" sz="1200" dirty="0"/>
              <a:t> puedes compartir datos y activos. Incluyendo tablas, vistas, modelos y catálogos federados!</a:t>
            </a:r>
          </a:p>
          <a:p>
            <a:r>
              <a:rPr lang="es-ES" sz="1200" dirty="0"/>
              <a:t>El receptor no tiene porque ser un usuario de </a:t>
            </a:r>
            <a:r>
              <a:rPr lang="es-ES" sz="1200" dirty="0" err="1"/>
              <a:t>databricks</a:t>
            </a:r>
            <a:r>
              <a:rPr lang="es-ES" sz="1200" dirty="0"/>
              <a:t>. El consumidor puede ser Spark, pandas, </a:t>
            </a:r>
            <a:r>
              <a:rPr lang="es-ES" sz="1200" dirty="0" err="1"/>
              <a:t>powerbi</a:t>
            </a:r>
            <a:r>
              <a:rPr lang="es-ES" sz="1200" dirty="0"/>
              <a:t>… (lo que aparece en la imagen)</a:t>
            </a:r>
          </a:p>
          <a:p>
            <a:endParaRPr lang="es-ES" dirty="0"/>
          </a:p>
          <a:p>
            <a:r>
              <a:rPr lang="es-ES" dirty="0"/>
              <a:t>⚙️ 1. Qué </a:t>
            </a:r>
            <a:r>
              <a:rPr lang="es-ES" i="1" dirty="0"/>
              <a:t>no</a:t>
            </a:r>
            <a:r>
              <a:rPr lang="es-ES" dirty="0"/>
              <a:t> hace Delta </a:t>
            </a:r>
            <a:r>
              <a:rPr lang="es-ES" dirty="0" err="1"/>
              <a:t>Sharing</a:t>
            </a:r>
            <a:endParaRPr lang="es-ES" dirty="0"/>
          </a:p>
          <a:p>
            <a:r>
              <a:rPr lang="es-ES" dirty="0"/>
              <a:t>No mueve, copia ni duplica los datos.</a:t>
            </a:r>
            <a:br>
              <a:rPr lang="es-ES" dirty="0"/>
            </a:br>
            <a:r>
              <a:rPr lang="es-ES" dirty="0"/>
              <a:t>👉 No hay transferencia de archivos entre sistemas (ni S3 → cliente, ni </a:t>
            </a:r>
            <a:r>
              <a:rPr lang="es-ES" dirty="0" err="1"/>
              <a:t>Databricks</a:t>
            </a:r>
            <a:r>
              <a:rPr lang="es-ES" dirty="0"/>
              <a:t> → Power BI).</a:t>
            </a:r>
            <a:br>
              <a:rPr lang="es-ES" dirty="0"/>
            </a:br>
            <a:r>
              <a:rPr lang="es-ES" dirty="0"/>
              <a:t>Los datos </a:t>
            </a:r>
            <a:r>
              <a:rPr lang="es-ES" b="1" dirty="0"/>
              <a:t>siguen viviendo en el mismo </a:t>
            </a:r>
            <a:r>
              <a:rPr lang="es-ES" b="1" dirty="0" err="1"/>
              <a:t>storage</a:t>
            </a:r>
            <a:r>
              <a:rPr lang="es-ES" dirty="0"/>
              <a:t> (por ejemplo, un </a:t>
            </a:r>
            <a:r>
              <a:rPr lang="es-ES" dirty="0" err="1"/>
              <a:t>bucket</a:t>
            </a:r>
            <a:r>
              <a:rPr lang="es-ES" dirty="0"/>
              <a:t> S3 o contenedor ADLS).</a:t>
            </a:r>
          </a:p>
          <a:p>
            <a:r>
              <a:rPr lang="es-ES" dirty="0"/>
              <a:t>🧩 2. Qué sí hace: “protocolo abierto de lectura segura”</a:t>
            </a:r>
          </a:p>
          <a:p>
            <a:r>
              <a:rPr lang="es-ES" dirty="0"/>
              <a:t>Delta </a:t>
            </a:r>
            <a:r>
              <a:rPr lang="es-ES" dirty="0" err="1"/>
              <a:t>Sharing</a:t>
            </a:r>
            <a:r>
              <a:rPr lang="es-ES" dirty="0"/>
              <a:t> define un </a:t>
            </a:r>
            <a:r>
              <a:rPr lang="es-ES" b="1" dirty="0"/>
              <a:t>protocolo REST + formato </a:t>
            </a:r>
            <a:r>
              <a:rPr lang="es-ES" b="1" dirty="0" err="1"/>
              <a:t>parquet</a:t>
            </a:r>
            <a:r>
              <a:rPr lang="es-ES" b="1" dirty="0"/>
              <a:t>/delta</a:t>
            </a:r>
            <a:r>
              <a:rPr lang="es-ES" dirty="0"/>
              <a:t> que permite a un </a:t>
            </a:r>
            <a:r>
              <a:rPr lang="es-ES" i="1" dirty="0"/>
              <a:t>receptor autorizado</a:t>
            </a:r>
            <a:r>
              <a:rPr lang="es-ES" dirty="0"/>
              <a:t> leer porciones de una tabla directamente del </a:t>
            </a:r>
            <a:r>
              <a:rPr lang="es-ES" b="1" dirty="0" err="1"/>
              <a:t>storage</a:t>
            </a:r>
            <a:r>
              <a:rPr lang="es-ES" b="1" dirty="0"/>
              <a:t> del proveedor</a:t>
            </a:r>
            <a:r>
              <a:rPr lang="es-ES" dirty="0"/>
              <a:t>.</a:t>
            </a:r>
          </a:p>
          <a:p>
            <a:r>
              <a:rPr lang="es-ES" dirty="0"/>
              <a:t>Simplificando, el flujo es así:</a:t>
            </a:r>
          </a:p>
          <a:p>
            <a:r>
              <a:rPr lang="es-ES" b="1" dirty="0"/>
              <a:t>El proveedor (</a:t>
            </a:r>
            <a:r>
              <a:rPr lang="es-ES" b="1" dirty="0" err="1"/>
              <a:t>Databricks</a:t>
            </a:r>
            <a:r>
              <a:rPr lang="es-ES" b="1" dirty="0"/>
              <a:t>)</a:t>
            </a:r>
            <a:r>
              <a:rPr lang="es-ES" dirty="0"/>
              <a:t> tiene las tablas Delta en su </a:t>
            </a:r>
            <a:r>
              <a:rPr lang="es-ES" dirty="0" err="1"/>
              <a:t>Lakehouse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Ejemplo: abfss://bronze@storageaccount.dfs.core.windows.net/sales_data</a:t>
            </a:r>
          </a:p>
          <a:p>
            <a:r>
              <a:rPr lang="es-ES" dirty="0"/>
              <a:t>Cuando creas un SHARE, Unity </a:t>
            </a:r>
            <a:r>
              <a:rPr lang="es-ES" dirty="0" err="1"/>
              <a:t>Catalog</a:t>
            </a:r>
            <a:r>
              <a:rPr lang="es-ES" dirty="0"/>
              <a:t> guarda </a:t>
            </a:r>
            <a:r>
              <a:rPr lang="es-ES" b="1" dirty="0"/>
              <a:t>metadatos</a:t>
            </a:r>
            <a:r>
              <a:rPr lang="es-ES" dirty="0"/>
              <a:t> sobre qué tablas se comparten y qué versiones están permitidas.</a:t>
            </a:r>
          </a:p>
          <a:p>
            <a:r>
              <a:rPr lang="es-ES" dirty="0"/>
              <a:t>Al crear un RECIPIENT, </a:t>
            </a:r>
            <a:r>
              <a:rPr lang="es-ES" dirty="0" err="1"/>
              <a:t>Databricks</a:t>
            </a:r>
            <a:r>
              <a:rPr lang="es-ES" dirty="0"/>
              <a:t> genera un </a:t>
            </a:r>
            <a:r>
              <a:rPr lang="es-ES" b="1" dirty="0"/>
              <a:t>token de acceso</a:t>
            </a:r>
            <a:r>
              <a:rPr lang="es-ES" dirty="0"/>
              <a:t> y una </a:t>
            </a:r>
            <a:r>
              <a:rPr lang="es-ES" b="1" dirty="0"/>
              <a:t>URL segura</a:t>
            </a:r>
            <a:r>
              <a:rPr lang="es-ES" dirty="0"/>
              <a:t> (</a:t>
            </a:r>
            <a:r>
              <a:rPr lang="es-ES" dirty="0" err="1"/>
              <a:t>endpoint</a:t>
            </a:r>
            <a:r>
              <a:rPr lang="es-ES" dirty="0"/>
              <a:t> REST) llamada </a:t>
            </a:r>
            <a:r>
              <a:rPr lang="es-ES" i="1" dirty="0"/>
              <a:t>Delta </a:t>
            </a:r>
            <a:r>
              <a:rPr lang="es-ES" i="1" dirty="0" err="1"/>
              <a:t>Sharing</a:t>
            </a:r>
            <a:r>
              <a:rPr lang="es-ES" i="1" dirty="0"/>
              <a:t> Server </a:t>
            </a:r>
            <a:r>
              <a:rPr lang="es-ES" i="1" dirty="0" err="1"/>
              <a:t>Endpoint</a:t>
            </a:r>
            <a:r>
              <a:rPr lang="es-ES" dirty="0"/>
              <a:t>.</a:t>
            </a:r>
          </a:p>
          <a:p>
            <a:r>
              <a:rPr lang="es-ES" dirty="0"/>
              <a:t>Cuando el receptor abre el fichero .share y lanza una </a:t>
            </a:r>
            <a:r>
              <a:rPr lang="es-ES" dirty="0" err="1"/>
              <a:t>query</a:t>
            </a:r>
            <a:r>
              <a:rPr lang="es-ES" dirty="0"/>
              <a:t> (por ejemplo, desde Pandas o Power BI), ocurre esto:</a:t>
            </a:r>
          </a:p>
          <a:p>
            <a:endParaRPr lang="es-ES" dirty="0"/>
          </a:p>
          <a:p>
            <a:r>
              <a:rPr lang="es-ES" dirty="0"/>
              <a:t>🔒 4. Seguridad y aislamiento</a:t>
            </a:r>
          </a:p>
          <a:p>
            <a:r>
              <a:rPr lang="es-ES" dirty="0"/>
              <a:t>Los datos no se exponen públicamente: solo se sirven mediante </a:t>
            </a:r>
            <a:r>
              <a:rPr lang="es-ES" b="1" dirty="0" err="1"/>
              <a:t>URLs</a:t>
            </a:r>
            <a:r>
              <a:rPr lang="es-ES" b="1" dirty="0"/>
              <a:t> </a:t>
            </a:r>
            <a:r>
              <a:rPr lang="es-ES" b="1" dirty="0" err="1"/>
              <a:t>pre-firmadas</a:t>
            </a:r>
            <a:r>
              <a:rPr lang="es-ES" b="1" dirty="0"/>
              <a:t> HTTPS</a:t>
            </a:r>
            <a:r>
              <a:rPr lang="es-ES" dirty="0"/>
              <a:t>.</a:t>
            </a:r>
          </a:p>
          <a:p>
            <a:r>
              <a:rPr lang="es-ES" dirty="0"/>
              <a:t>Cada receptor tiene su propio token (revocable).</a:t>
            </a:r>
          </a:p>
          <a:p>
            <a:r>
              <a:rPr lang="es-ES" dirty="0"/>
              <a:t>Puedes limitar qué columnas, qué versiones y qué tiempo de acceso.</a:t>
            </a:r>
          </a:p>
          <a:p>
            <a:r>
              <a:rPr lang="es-ES" dirty="0"/>
              <a:t>Unity </a:t>
            </a:r>
            <a:r>
              <a:rPr lang="es-ES" dirty="0" err="1"/>
              <a:t>Catalog</a:t>
            </a:r>
            <a:r>
              <a:rPr lang="es-ES" dirty="0"/>
              <a:t> registra logs y auditorías de acceso.</a:t>
            </a:r>
          </a:p>
          <a:p>
            <a:r>
              <a:rPr lang="es-ES" dirty="0"/>
              <a:t>🌍 5. Qué ve el receptor</a:t>
            </a:r>
          </a:p>
          <a:p>
            <a:r>
              <a:rPr lang="es-ES" dirty="0"/>
              <a:t>Depende del cliente:</a:t>
            </a:r>
          </a:p>
          <a:p>
            <a:r>
              <a:rPr lang="es-ES" dirty="0"/>
              <a:t>Power </a:t>
            </a:r>
            <a:r>
              <a:rPr lang="es-ES" dirty="0" err="1"/>
              <a:t>BILectura</a:t>
            </a:r>
            <a:r>
              <a:rPr lang="es-ES" dirty="0"/>
              <a:t> vía “Delta </a:t>
            </a:r>
            <a:r>
              <a:rPr lang="es-ES" dirty="0" err="1"/>
              <a:t>Sharing</a:t>
            </a:r>
            <a:r>
              <a:rPr lang="es-ES" dirty="0"/>
              <a:t> </a:t>
            </a:r>
            <a:r>
              <a:rPr lang="es-ES" dirty="0" err="1"/>
              <a:t>Connector</a:t>
            </a:r>
            <a:r>
              <a:rPr lang="es-ES" dirty="0"/>
              <a:t>” → </a:t>
            </a:r>
            <a:r>
              <a:rPr lang="es-ES" dirty="0" err="1"/>
              <a:t>pre-signed</a:t>
            </a:r>
            <a:r>
              <a:rPr lang="es-ES" dirty="0"/>
              <a:t> </a:t>
            </a:r>
            <a:r>
              <a:rPr lang="es-ES" dirty="0" err="1"/>
              <a:t>URLs</a:t>
            </a:r>
            <a:r>
              <a:rPr lang="es-ES" dirty="0"/>
              <a:t> (</a:t>
            </a:r>
            <a:r>
              <a:rPr lang="es-ES" dirty="0" err="1"/>
              <a:t>Parquet</a:t>
            </a:r>
            <a:r>
              <a:rPr lang="es-ES" dirty="0"/>
              <a:t>)Pandas/</a:t>
            </a:r>
            <a:r>
              <a:rPr lang="es-ES" dirty="0" err="1"/>
              <a:t>PySparkDataFrame</a:t>
            </a:r>
            <a:r>
              <a:rPr lang="es-ES" dirty="0"/>
              <a:t> remoto (lee </a:t>
            </a:r>
            <a:r>
              <a:rPr lang="es-ES" dirty="0" err="1"/>
              <a:t>Parquet</a:t>
            </a:r>
            <a:r>
              <a:rPr lang="es-ES" dirty="0"/>
              <a:t> directamente)</a:t>
            </a:r>
            <a:r>
              <a:rPr lang="es-ES" dirty="0" err="1"/>
              <a:t>Snowflake</a:t>
            </a:r>
            <a:r>
              <a:rPr lang="es-ES" dirty="0"/>
              <a:t>/</a:t>
            </a:r>
            <a:r>
              <a:rPr lang="es-ES" dirty="0" err="1"/>
              <a:t>DuckDBExternal</a:t>
            </a:r>
            <a:r>
              <a:rPr lang="es-ES" dirty="0"/>
              <a:t> table con lectura REST + </a:t>
            </a:r>
            <a:r>
              <a:rPr lang="es-ES" dirty="0" err="1"/>
              <a:t>ParquetOtro</a:t>
            </a:r>
            <a:r>
              <a:rPr lang="es-ES" dirty="0"/>
              <a:t> </a:t>
            </a:r>
            <a:r>
              <a:rPr lang="es-ES" dirty="0" err="1"/>
              <a:t>DatabricksLectura</a:t>
            </a:r>
            <a:r>
              <a:rPr lang="es-ES" dirty="0"/>
              <a:t> directa, pero gestionada dentro del </a:t>
            </a:r>
            <a:r>
              <a:rPr lang="es-ES" dirty="0" err="1"/>
              <a:t>metastore</a:t>
            </a:r>
            <a:r>
              <a:rPr lang="es-ES" dirty="0"/>
              <a:t> remoto</a:t>
            </a:r>
          </a:p>
          <a:p>
            <a:r>
              <a:rPr lang="es-ES" dirty="0"/>
              <a:t>En resumen:</a:t>
            </a:r>
          </a:p>
          <a:p>
            <a:r>
              <a:rPr lang="es-ES" dirty="0"/>
              <a:t>🔸 Los datos </a:t>
            </a:r>
            <a:r>
              <a:rPr lang="es-ES" b="1" dirty="0"/>
              <a:t>no se mueven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control de acceso y versionado</a:t>
            </a:r>
            <a:r>
              <a:rPr lang="es-ES" dirty="0"/>
              <a:t> se mantiene en </a:t>
            </a:r>
            <a:r>
              <a:rPr lang="es-ES" dirty="0" err="1"/>
              <a:t>Databricks</a:t>
            </a:r>
            <a:br>
              <a:rPr lang="es-ES" dirty="0"/>
            </a:br>
            <a:r>
              <a:rPr lang="es-ES" dirty="0"/>
              <a:t>🔸 El </a:t>
            </a:r>
            <a:r>
              <a:rPr lang="es-ES" b="1" dirty="0"/>
              <a:t>receptor los consume en remoto</a:t>
            </a:r>
            <a:r>
              <a:rPr lang="es-ES" dirty="0"/>
              <a:t>, mediante </a:t>
            </a:r>
            <a:r>
              <a:rPr lang="es-ES" dirty="0" err="1"/>
              <a:t>URLs</a:t>
            </a:r>
            <a:r>
              <a:rPr lang="es-ES" dirty="0"/>
              <a:t> temporales firmadas</a:t>
            </a:r>
            <a:br>
              <a:rPr lang="es-ES" dirty="0"/>
            </a:br>
            <a:r>
              <a:rPr lang="es-ES" dirty="0"/>
              <a:t>🔸 Es una </a:t>
            </a:r>
            <a:r>
              <a:rPr lang="es-ES" b="1" dirty="0"/>
              <a:t>interoperabilidad real</a:t>
            </a:r>
            <a:r>
              <a:rPr lang="es-ES" dirty="0"/>
              <a:t> basada en un </a:t>
            </a:r>
            <a:r>
              <a:rPr lang="es-ES" b="1" dirty="0"/>
              <a:t>protocolo abierto (no propietario)</a:t>
            </a: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5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Si eres un proveedor de datos es una forma de alcanzar mas clientes </a:t>
            </a:r>
          </a:p>
          <a:p>
            <a:r>
              <a:rPr lang="es-ES" sz="1200" dirty="0"/>
              <a:t>Si eres un consumidor, puedes obtener </a:t>
            </a:r>
            <a:r>
              <a:rPr lang="es-ES" sz="1200" dirty="0" err="1"/>
              <a:t>superfacilmente</a:t>
            </a:r>
            <a:r>
              <a:rPr lang="es-ES" sz="1200" dirty="0"/>
              <a:t> activos que otros han creado. Puedes innovar mucho mas rápido porque puedes consumir información que otros han consumido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00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A305-AAFF-B456-7262-0D65B21A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AEC6E6-2C28-08D9-D1C8-028F5C95B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72EDD1C-6553-DC26-13EF-486398164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1BCEE4-3BD4-F2D8-DB37-61078F74D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77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</a:t>
            </a:r>
            <a:r>
              <a:rPr lang="es-ES" dirty="0" err="1"/>
              <a:t>Databricks</a:t>
            </a:r>
            <a:r>
              <a:rPr lang="es-ES" dirty="0"/>
              <a:t>, </a:t>
            </a:r>
            <a:r>
              <a:rPr lang="es-ES" b="1" dirty="0"/>
              <a:t>todo lo que ocurre dentro de la plataforma genera trazas, eventos y logs</a:t>
            </a:r>
            <a:r>
              <a:rPr lang="es-ES" dirty="0"/>
              <a:t>: el uso de los clústeres, los trabajos ejecutados, los costes en </a:t>
            </a:r>
            <a:r>
              <a:rPr lang="es-ES" dirty="0" err="1"/>
              <a:t>DBUs</a:t>
            </a:r>
            <a:r>
              <a:rPr lang="es-ES" dirty="0"/>
              <a:t>, las consultas SQL, los accesos, e incluso el linaje de los datos.</a:t>
            </a:r>
          </a:p>
          <a:p>
            <a:endParaRPr lang="es-ES" dirty="0"/>
          </a:p>
          <a:p>
            <a:r>
              <a:rPr lang="es-ES" dirty="0"/>
              <a:t>Para no perder esa información, </a:t>
            </a:r>
            <a:r>
              <a:rPr lang="es-ES" dirty="0" err="1"/>
              <a:t>Databricks</a:t>
            </a:r>
            <a:r>
              <a:rPr lang="es-ES" dirty="0"/>
              <a:t> ha creado una infraestructura interna —el </a:t>
            </a:r>
            <a:r>
              <a:rPr lang="es-ES" b="1" dirty="0" err="1"/>
              <a:t>Lakehouse</a:t>
            </a:r>
            <a:r>
              <a:rPr lang="es-ES" b="1" dirty="0"/>
              <a:t> Pipeline </a:t>
            </a:r>
            <a:r>
              <a:rPr lang="es-ES" b="1" dirty="0" err="1"/>
              <a:t>Infrastructure</a:t>
            </a:r>
            <a:r>
              <a:rPr lang="es-ES" dirty="0"/>
              <a:t>— que </a:t>
            </a:r>
            <a:r>
              <a:rPr lang="es-ES" b="1" dirty="0"/>
              <a:t>procesa automáticamente todos esos logs</a:t>
            </a:r>
            <a:r>
              <a:rPr lang="es-ES" dirty="0"/>
              <a:t> y los convierte en un formato estructurado dentro del propio entorno del usuario.</a:t>
            </a:r>
          </a:p>
          <a:p>
            <a:endParaRPr lang="es-ES" dirty="0"/>
          </a:p>
          <a:p>
            <a:r>
              <a:rPr lang="es-ES" dirty="0"/>
              <a:t>Ese procesamiento continuo alimenta lo que conocemos como </a:t>
            </a:r>
            <a:r>
              <a:rPr lang="es-ES" b="1" dirty="0" err="1"/>
              <a:t>System</a:t>
            </a:r>
            <a:r>
              <a:rPr lang="es-ES" b="1" dirty="0"/>
              <a:t> Tables</a:t>
            </a:r>
            <a:r>
              <a:rPr lang="es-ES" dirty="0"/>
              <a:t>, que viven dentro del </a:t>
            </a:r>
            <a:r>
              <a:rPr lang="es-ES" b="1" dirty="0"/>
              <a:t>UC </a:t>
            </a:r>
            <a:r>
              <a:rPr lang="es-ES" b="1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 y se organizan por temas:</a:t>
            </a:r>
          </a:p>
          <a:p>
            <a:r>
              <a:rPr lang="es-ES" b="1" dirty="0"/>
              <a:t>- </a:t>
            </a:r>
            <a:r>
              <a:rPr lang="es-ES" b="1" dirty="0" err="1"/>
              <a:t>access</a:t>
            </a:r>
            <a:r>
              <a:rPr lang="es-ES" b="1" dirty="0"/>
              <a:t> / </a:t>
            </a:r>
            <a:r>
              <a:rPr lang="es-ES" b="1" dirty="0" err="1"/>
              <a:t>audit</a:t>
            </a:r>
            <a:r>
              <a:rPr lang="es-ES" b="1" dirty="0"/>
              <a:t>:</a:t>
            </a:r>
            <a:r>
              <a:rPr lang="es-ES" dirty="0"/>
              <a:t> información sobre quién accede, desde dónde y cuándo.</a:t>
            </a:r>
          </a:p>
          <a:p>
            <a:r>
              <a:rPr lang="es-ES" b="1" dirty="0"/>
              <a:t>- </a:t>
            </a:r>
            <a:r>
              <a:rPr lang="es-ES" b="1" dirty="0" err="1"/>
              <a:t>billing</a:t>
            </a:r>
            <a:r>
              <a:rPr lang="es-ES" b="1" dirty="0"/>
              <a:t> / </a:t>
            </a:r>
            <a:r>
              <a:rPr lang="es-ES" b="1" dirty="0" err="1"/>
              <a:t>usage</a:t>
            </a:r>
            <a:r>
              <a:rPr lang="es-ES" b="1" dirty="0"/>
              <a:t>:</a:t>
            </a:r>
            <a:r>
              <a:rPr lang="es-ES" dirty="0"/>
              <a:t> datos de consumo, costes y uso de recursos (</a:t>
            </a:r>
            <a:r>
              <a:rPr lang="es-ES" dirty="0" err="1"/>
              <a:t>DBUs</a:t>
            </a:r>
            <a:r>
              <a:rPr lang="es-ES" dirty="0"/>
              <a:t>, clústeres, etc.).</a:t>
            </a:r>
          </a:p>
          <a:p>
            <a:r>
              <a:rPr lang="es-ES" b="1" dirty="0"/>
              <a:t>- </a:t>
            </a:r>
            <a:r>
              <a:rPr lang="es-ES" b="1" dirty="0" err="1"/>
              <a:t>lineage</a:t>
            </a:r>
            <a:r>
              <a:rPr lang="es-ES" b="1" dirty="0"/>
              <a:t> / </a:t>
            </a:r>
            <a:r>
              <a:rPr lang="es-ES" b="1" dirty="0" err="1"/>
              <a:t>column_lineage</a:t>
            </a:r>
            <a:r>
              <a:rPr lang="es-ES" b="1" dirty="0"/>
              <a:t> / </a:t>
            </a:r>
            <a:r>
              <a:rPr lang="es-ES" b="1" dirty="0" err="1"/>
              <a:t>table_lineage</a:t>
            </a:r>
            <a:r>
              <a:rPr lang="es-ES" b="1" dirty="0"/>
              <a:t>:</a:t>
            </a:r>
            <a:r>
              <a:rPr lang="es-ES" dirty="0"/>
              <a:t> trazabilidad de los datos a nivel de tabla y columna.</a:t>
            </a:r>
          </a:p>
          <a:p>
            <a:pPr marL="171450" indent="-171450">
              <a:buFontTx/>
              <a:buChar char="-"/>
            </a:pPr>
            <a:r>
              <a:rPr lang="es-ES" b="1" dirty="0" err="1"/>
              <a:t>information_schema</a:t>
            </a:r>
            <a:r>
              <a:rPr lang="es-ES" b="1" dirty="0"/>
              <a:t>:</a:t>
            </a:r>
            <a:r>
              <a:rPr lang="es-ES" dirty="0"/>
              <a:t> metadatos técnicos de catálogos, esquemas y tablas.</a:t>
            </a:r>
          </a:p>
          <a:p>
            <a:pPr marL="0" indent="0">
              <a:buFontTx/>
              <a:buNone/>
            </a:pPr>
            <a:endParaRPr lang="es-ES" dirty="0"/>
          </a:p>
          <a:p>
            <a:r>
              <a:rPr lang="es-ES" dirty="0"/>
              <a:t>Estas tablas están </a:t>
            </a:r>
            <a:r>
              <a:rPr lang="es-ES" b="1" dirty="0"/>
              <a:t>almacenadas en formato Delta</a:t>
            </a:r>
            <a:r>
              <a:rPr lang="es-ES" dirty="0"/>
              <a:t> y </a:t>
            </a:r>
            <a:r>
              <a:rPr lang="es-ES" b="1" dirty="0"/>
              <a:t>gestionadas por </a:t>
            </a:r>
            <a:r>
              <a:rPr lang="es-ES" b="1" dirty="0" err="1"/>
              <a:t>Databricks</a:t>
            </a:r>
            <a:r>
              <a:rPr lang="es-ES" dirty="0"/>
              <a:t>, lo que garantiza su actualización automática sin que el usuario tenga que mantener pipelines manuales.</a:t>
            </a:r>
          </a:p>
          <a:p>
            <a:r>
              <a:rPr lang="es-ES" dirty="0"/>
              <a:t>A partir de ellas, los </a:t>
            </a:r>
            <a:r>
              <a:rPr lang="es-ES" b="1" dirty="0"/>
              <a:t>equipos de datos o administradores</a:t>
            </a:r>
            <a:r>
              <a:rPr lang="es-ES" dirty="0"/>
              <a:t> pueden conectarlas directamente con:</a:t>
            </a:r>
          </a:p>
          <a:p>
            <a:r>
              <a:rPr lang="es-ES" b="1" dirty="0"/>
              <a:t>Herramientas BI o AI</a:t>
            </a:r>
            <a:r>
              <a:rPr lang="es-ES" dirty="0"/>
              <a:t> dentro de </a:t>
            </a:r>
            <a:r>
              <a:rPr lang="es-ES" dirty="0" err="1"/>
              <a:t>Databricks</a:t>
            </a:r>
            <a:r>
              <a:rPr lang="es-ES" dirty="0"/>
              <a:t> (por ejemplo, </a:t>
            </a:r>
            <a:r>
              <a:rPr lang="es-ES" dirty="0" err="1"/>
              <a:t>dashboards</a:t>
            </a:r>
            <a:r>
              <a:rPr lang="es-ES" dirty="0"/>
              <a:t> en SQL o notebooks exploratorios),</a:t>
            </a:r>
          </a:p>
          <a:p>
            <a:r>
              <a:rPr lang="es-ES" dirty="0"/>
              <a:t>o incluso con </a:t>
            </a:r>
            <a:r>
              <a:rPr lang="es-ES" b="1" dirty="0"/>
              <a:t>herramientas externas de análisis</a:t>
            </a:r>
            <a:r>
              <a:rPr lang="es-ES" dirty="0"/>
              <a:t> (Power BI, </a:t>
            </a:r>
            <a:r>
              <a:rPr lang="es-ES" dirty="0" err="1"/>
              <a:t>Tableau</a:t>
            </a:r>
            <a:r>
              <a:rPr lang="es-ES" dirty="0"/>
              <a:t>, </a:t>
            </a:r>
            <a:r>
              <a:rPr lang="es-ES" dirty="0" err="1"/>
              <a:t>Looker</a:t>
            </a:r>
            <a:r>
              <a:rPr lang="es-ES" dirty="0"/>
              <a:t>, etc.).</a:t>
            </a:r>
          </a:p>
          <a:p>
            <a:endParaRPr lang="es-ES" dirty="0"/>
          </a:p>
          <a:p>
            <a:r>
              <a:rPr lang="es-ES" dirty="0"/>
              <a:t>En resumen, </a:t>
            </a:r>
            <a:r>
              <a:rPr lang="es-ES" b="1" dirty="0"/>
              <a:t>las </a:t>
            </a:r>
            <a:r>
              <a:rPr lang="es-ES" b="1" dirty="0" err="1"/>
              <a:t>System</a:t>
            </a:r>
            <a:r>
              <a:rPr lang="es-ES" b="1" dirty="0"/>
              <a:t> Tables te dan una visión completa de lo que pasa en tu entorno </a:t>
            </a:r>
            <a:r>
              <a:rPr lang="es-ES" b="1" dirty="0" err="1"/>
              <a:t>Databricks</a:t>
            </a:r>
            <a:r>
              <a:rPr lang="es-ES" dirty="0"/>
              <a:t> —quién ejecuta qué, cuánto cuesta, cómo se mueven los datos y qué dependencias existen—.</a:t>
            </a:r>
          </a:p>
          <a:p>
            <a:r>
              <a:rPr lang="es-ES" dirty="0"/>
              <a:t>Esta información no solo sirve para auditoría o gobernanza, sino también para construir </a:t>
            </a:r>
            <a:r>
              <a:rPr lang="es-ES" b="1" dirty="0" err="1"/>
              <a:t>dashboards</a:t>
            </a:r>
            <a:r>
              <a:rPr lang="es-ES" b="1" dirty="0"/>
              <a:t> de control de costes, eficiencia de recursos o trazabilidad de datos</a:t>
            </a:r>
            <a:r>
              <a:rPr lang="es-ES" dirty="0"/>
              <a:t>, como el que veremos a continuación en el ejercicio práctico.</a:t>
            </a:r>
          </a:p>
          <a:p>
            <a:endParaRPr lang="es-ES" dirty="0"/>
          </a:p>
          <a:p>
            <a:r>
              <a:rPr lang="es-ES" b="1" dirty="0"/>
              <a:t>HAREMOS UN DASHBOARD DE EJEMPLO COMO DEMO…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2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1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42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F9AC-176B-686C-239D-C260B5DF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3BBE49-4FAA-AE00-4297-00AEAEB2B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44323C-F424-5545-535B-AFB0ADAD1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63EBC8-00C5-AFA9-908B-5E530DA0F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93EE-671A-78E8-6885-6076EC78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B688C0-E765-4C9F-5230-1CA1721D6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13D194-F00C-0B4A-75EA-9049A43FC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80A15-BCE1-D0DF-B913-C41B104B8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28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9E3B-931C-4FEF-4AB1-356E4F95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71F76E-4F3E-06D5-5711-1AF4D4F8E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2DEAC2-F706-DAE2-0FA3-659D0298F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¿Si </a:t>
            </a:r>
            <a:r>
              <a:rPr lang="es-ES" b="1" dirty="0" err="1"/>
              <a:t>preguntaramos</a:t>
            </a:r>
            <a:r>
              <a:rPr lang="es-ES" b="1" dirty="0"/>
              <a:t> en una sala que es DATA QUALITY?</a:t>
            </a:r>
          </a:p>
          <a:p>
            <a:endParaRPr lang="es-ES" b="1" dirty="0"/>
          </a:p>
          <a:p>
            <a:r>
              <a:rPr lang="es-ES" b="1" dirty="0"/>
              <a:t>Precisión (</a:t>
            </a:r>
            <a:r>
              <a:rPr lang="es-ES" b="1" dirty="0" err="1"/>
              <a:t>Accuracy</a:t>
            </a:r>
            <a:r>
              <a:rPr lang="es-ES" b="1" dirty="0"/>
              <a:t>):</a:t>
            </a:r>
            <a:r>
              <a:rPr lang="es-ES" dirty="0"/>
              <a:t> ¿Qué tan exactos son los datos con los que trabajamos?</a:t>
            </a:r>
          </a:p>
          <a:p>
            <a:r>
              <a:rPr lang="es-ES" b="1" dirty="0"/>
              <a:t>Completitud (</a:t>
            </a:r>
            <a:r>
              <a:rPr lang="es-ES" b="1" dirty="0" err="1"/>
              <a:t>Completeness</a:t>
            </a:r>
            <a:r>
              <a:rPr lang="es-ES" b="1" dirty="0"/>
              <a:t>):</a:t>
            </a:r>
            <a:r>
              <a:rPr lang="es-ES" dirty="0"/>
              <a:t> ¿Están todos los datos necesarios presentes y actualizados?</a:t>
            </a:r>
          </a:p>
          <a:p>
            <a:r>
              <a:rPr lang="es-ES" b="1" dirty="0"/>
              <a:t>Consistencia (</a:t>
            </a:r>
            <a:r>
              <a:rPr lang="es-ES" b="1" dirty="0" err="1"/>
              <a:t>Consistency</a:t>
            </a:r>
            <a:r>
              <a:rPr lang="es-ES" b="1" dirty="0"/>
              <a:t>):</a:t>
            </a:r>
            <a:r>
              <a:rPr lang="es-ES" dirty="0"/>
              <a:t> ¿Son coherentes los datos entre sí y con otras fuentes?</a:t>
            </a:r>
          </a:p>
          <a:p>
            <a:r>
              <a:rPr lang="es-ES" b="1" dirty="0"/>
              <a:t>Validez (</a:t>
            </a:r>
            <a:r>
              <a:rPr lang="es-ES" b="1" dirty="0" err="1"/>
              <a:t>Validity</a:t>
            </a:r>
            <a:r>
              <a:rPr lang="es-ES" b="1" dirty="0"/>
              <a:t>):</a:t>
            </a:r>
            <a:r>
              <a:rPr lang="es-ES" dirty="0"/>
              <a:t> ¿Cumplen los datos con los formatos, reglas y restricciones definidas?</a:t>
            </a:r>
          </a:p>
          <a:p>
            <a:r>
              <a:rPr lang="es-ES" b="1" dirty="0"/>
              <a:t>Actualidad (</a:t>
            </a:r>
            <a:r>
              <a:rPr lang="es-ES" b="1" dirty="0" err="1"/>
              <a:t>Timeliness</a:t>
            </a:r>
            <a:r>
              <a:rPr lang="es-ES" b="1" dirty="0"/>
              <a:t>):</a:t>
            </a:r>
            <a:r>
              <a:rPr lang="es-ES" dirty="0"/>
              <a:t> ¿Están los datos disponibles y actualizados en el momento en que se necesitan?</a:t>
            </a:r>
          </a:p>
          <a:p>
            <a:r>
              <a:rPr lang="es-ES" b="1" dirty="0"/>
              <a:t>Unicidad (</a:t>
            </a:r>
            <a:r>
              <a:rPr lang="es-ES" b="1" dirty="0" err="1"/>
              <a:t>Uniqueness</a:t>
            </a:r>
            <a:r>
              <a:rPr lang="es-ES" b="1" dirty="0"/>
              <a:t>):</a:t>
            </a:r>
            <a:r>
              <a:rPr lang="es-ES" dirty="0"/>
              <a:t> ¿Existen registros duplicados o redundantes en los datos?</a:t>
            </a:r>
          </a:p>
          <a:p>
            <a:r>
              <a:rPr lang="es-ES" b="1" dirty="0"/>
              <a:t>Integridad (</a:t>
            </a:r>
            <a:r>
              <a:rPr lang="es-ES" b="1" dirty="0" err="1"/>
              <a:t>Integrity</a:t>
            </a:r>
            <a:r>
              <a:rPr lang="es-ES" b="1" dirty="0"/>
              <a:t>):</a:t>
            </a:r>
            <a:r>
              <a:rPr lang="es-ES" dirty="0"/>
              <a:t> ¿Se mantienen los datos completos y confiables a lo largo del tiempo?</a:t>
            </a:r>
          </a:p>
          <a:p>
            <a:endParaRPr lang="es-ES" dirty="0"/>
          </a:p>
          <a:p>
            <a:r>
              <a:rPr lang="es-ES" b="1" dirty="0"/>
              <a:t>TODO ESO SERIA CORRECTO</a:t>
            </a:r>
          </a:p>
          <a:p>
            <a:endParaRPr lang="es-ES" b="1" dirty="0"/>
          </a:p>
          <a:p>
            <a:r>
              <a:rPr lang="es-ES" b="0" dirty="0"/>
              <a:t>POR TODO ESTO LO QUE CONSIGUE LA DATA QUALITY ES:</a:t>
            </a:r>
            <a:r>
              <a:rPr lang="es-ES" b="1" dirty="0"/>
              <a:t>  permitir que podemos tomar decisiones correctas en base al dato</a:t>
            </a:r>
          </a:p>
          <a:p>
            <a:r>
              <a:rPr lang="es-ES" b="1" dirty="0"/>
              <a:t>No tener una gestión de Data </a:t>
            </a:r>
            <a:r>
              <a:rPr lang="es-ES" b="1" dirty="0" err="1"/>
              <a:t>Quality</a:t>
            </a:r>
            <a:r>
              <a:rPr lang="es-ES" b="1" dirty="0"/>
              <a:t>… </a:t>
            </a:r>
            <a:r>
              <a:rPr lang="es-ES" dirty="0"/>
              <a:t>“</a:t>
            </a:r>
            <a:r>
              <a:rPr lang="es-ES" dirty="0" err="1"/>
              <a:t>garbage</a:t>
            </a:r>
            <a:r>
              <a:rPr lang="es-ES" dirty="0"/>
              <a:t> in, </a:t>
            </a:r>
            <a:r>
              <a:rPr lang="es-ES" dirty="0" err="1"/>
              <a:t>garbage</a:t>
            </a:r>
            <a:r>
              <a:rPr lang="es-ES" dirty="0"/>
              <a:t> </a:t>
            </a:r>
            <a:r>
              <a:rPr lang="es-ES" dirty="0" err="1"/>
              <a:t>out</a:t>
            </a:r>
            <a:r>
              <a:rPr lang="es-ES" dirty="0"/>
              <a:t>”</a:t>
            </a:r>
            <a:endParaRPr lang="es-E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42C011-1C73-90E8-89EF-2EA6670EA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9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Aunque la calidad del dato es un pilar fundamental, </a:t>
            </a:r>
            <a:r>
              <a:rPr lang="es-ES" b="1" dirty="0"/>
              <a:t>muy pocas empresas tienen una solución de Data </a:t>
            </a:r>
            <a:r>
              <a:rPr lang="es-ES" b="1" dirty="0" err="1"/>
              <a:t>Quality</a:t>
            </a:r>
            <a:r>
              <a:rPr lang="es-ES" b="1" dirty="0"/>
              <a:t> bien implementada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Según </a:t>
            </a:r>
            <a:r>
              <a:rPr lang="es-ES" dirty="0" err="1"/>
              <a:t>Databricks</a:t>
            </a:r>
            <a:r>
              <a:rPr lang="es-ES" dirty="0"/>
              <a:t>, solo alrededor del </a:t>
            </a:r>
            <a:r>
              <a:rPr lang="es-ES" b="1" dirty="0"/>
              <a:t>40 % de las compañías</a:t>
            </a:r>
            <a:r>
              <a:rPr lang="es-ES" dirty="0"/>
              <a:t> cuenta con un sistema que cubra todas las dimensiones que hemos visto (precisión, completitud, consistencia, etc.).</a:t>
            </a:r>
          </a:p>
          <a:p>
            <a:endParaRPr lang="es-ES" dirty="0"/>
          </a:p>
          <a:p>
            <a:r>
              <a:rPr lang="es-ES" dirty="0"/>
              <a:t>Las razones principales son:</a:t>
            </a:r>
          </a:p>
          <a:p>
            <a:r>
              <a:rPr lang="es-ES" b="1" dirty="0"/>
              <a:t>Alta fricción:</a:t>
            </a:r>
            <a:r>
              <a:rPr lang="es-ES" dirty="0"/>
              <a:t> implementar controles de calidad suele requerir construir </a:t>
            </a:r>
            <a:r>
              <a:rPr lang="es-ES" dirty="0" err="1"/>
              <a:t>dashboards</a:t>
            </a:r>
            <a:r>
              <a:rPr lang="es-ES" dirty="0"/>
              <a:t> manuales, que luego apenas se consultan.</a:t>
            </a:r>
          </a:p>
          <a:p>
            <a:r>
              <a:rPr lang="es-ES" b="1" dirty="0"/>
              <a:t>Difícil de escalar:</a:t>
            </a:r>
            <a:r>
              <a:rPr lang="es-ES" dirty="0"/>
              <a:t> incluso si se hace para una tabla, repetir el proceso para cientos de tablas resulta inviable.</a:t>
            </a:r>
          </a:p>
          <a:p>
            <a:r>
              <a:rPr lang="es-ES" b="1" dirty="0"/>
              <a:t>Alertas ruidosas:</a:t>
            </a:r>
            <a:r>
              <a:rPr lang="es-ES" dirty="0"/>
              <a:t> los equipos acaban saturados con notificaciones que, en muchos casos, no son críticas o no aportan valor.</a:t>
            </a:r>
          </a:p>
          <a:p>
            <a:r>
              <a:rPr lang="es-ES" dirty="0"/>
              <a:t>El resultado es que muchas organizaciones </a:t>
            </a:r>
            <a:r>
              <a:rPr lang="es-ES" b="1" dirty="0"/>
              <a:t>acaban confiando en revisiones manuales o procesos puntuales</a:t>
            </a:r>
            <a:r>
              <a:rPr lang="es-ES" dirty="0"/>
              <a:t>, en lugar de una monitorización automatizada y sostenible.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42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equipos de datos necesitan </a:t>
            </a:r>
            <a:r>
              <a:rPr lang="es-ES" b="1" dirty="0"/>
              <a:t>monitorear la calidad de sus activos</a:t>
            </a:r>
            <a:r>
              <a:rPr lang="es-ES" dirty="0"/>
              <a:t>, independientemente de su tipo o tecnología de origen.</a:t>
            </a:r>
            <a:br>
              <a:rPr lang="es-ES" dirty="0"/>
            </a:br>
            <a:r>
              <a:rPr lang="es-ES" dirty="0"/>
              <a:t>Estos activos pueden ser:</a:t>
            </a:r>
          </a:p>
          <a:p>
            <a:pPr marL="228600" indent="-228600">
              <a:buAutoNum type="arabicPeriod"/>
            </a:pPr>
            <a:r>
              <a:rPr lang="es-ES" dirty="0"/>
              <a:t>tablas </a:t>
            </a:r>
            <a:r>
              <a:rPr lang="es-ES" b="1" dirty="0" err="1"/>
              <a:t>Bronze</a:t>
            </a:r>
            <a:r>
              <a:rPr lang="es-ES" b="1" dirty="0"/>
              <a:t>, Silver o Gold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/>
              <a:t>series temporales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Materialized</a:t>
            </a:r>
            <a:r>
              <a:rPr lang="es-ES" b="1" dirty="0"/>
              <a:t> </a:t>
            </a:r>
            <a:r>
              <a:rPr lang="es-ES" b="1" dirty="0" err="1"/>
              <a:t>Views</a:t>
            </a:r>
            <a:r>
              <a:rPr lang="es-ES" b="1" dirty="0"/>
              <a:t> o </a:t>
            </a:r>
            <a:r>
              <a:rPr lang="es-ES" b="1" dirty="0" err="1"/>
              <a:t>Streaming</a:t>
            </a:r>
            <a:r>
              <a:rPr lang="es-ES" b="1" dirty="0"/>
              <a:t> Tables</a:t>
            </a:r>
            <a:r>
              <a:rPr lang="es-ES" dirty="0"/>
              <a:t>, </a:t>
            </a:r>
          </a:p>
          <a:p>
            <a:pPr marL="228600" indent="-228600">
              <a:buAutoNum type="arabicPeriod"/>
            </a:pPr>
            <a:r>
              <a:rPr lang="es-ES" b="1" dirty="0" err="1"/>
              <a:t>Feature</a:t>
            </a:r>
            <a:r>
              <a:rPr lang="es-ES" b="1" dirty="0"/>
              <a:t> Tables</a:t>
            </a:r>
            <a:endParaRPr lang="es-ES" dirty="0"/>
          </a:p>
          <a:p>
            <a:pPr marL="228600" indent="-228600">
              <a:buAutoNum type="arabicPeriod"/>
            </a:pPr>
            <a:r>
              <a:rPr lang="es-ES" b="1" dirty="0"/>
              <a:t>modelos de datos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 err="1"/>
              <a:t>Databricks</a:t>
            </a:r>
            <a:r>
              <a:rPr lang="es-ES" dirty="0"/>
              <a:t> permite aplicar </a:t>
            </a:r>
            <a:r>
              <a:rPr lang="es-ES" i="1" dirty="0" err="1"/>
              <a:t>Lakehouse</a:t>
            </a:r>
            <a:r>
              <a:rPr lang="es-ES" i="1" dirty="0"/>
              <a:t> </a:t>
            </a:r>
            <a:r>
              <a:rPr lang="es-ES" i="1" dirty="0" err="1"/>
              <a:t>Monitoring</a:t>
            </a:r>
            <a:r>
              <a:rPr lang="es-ES" dirty="0"/>
              <a:t> sobre cualquiera de ellos, sin importar cómo se generen:</a:t>
            </a:r>
          </a:p>
          <a:p>
            <a:r>
              <a:rPr lang="es-ES" b="1" dirty="0" err="1"/>
              <a:t>dbt</a:t>
            </a:r>
            <a:r>
              <a:rPr lang="es-ES" b="1" dirty="0"/>
              <a:t> (data </a:t>
            </a:r>
            <a:r>
              <a:rPr lang="es-ES" b="1" dirty="0" err="1"/>
              <a:t>build</a:t>
            </a:r>
            <a:r>
              <a:rPr lang="es-ES" b="1" dirty="0"/>
              <a:t> </a:t>
            </a:r>
            <a:r>
              <a:rPr lang="es-ES" b="1" dirty="0" err="1"/>
              <a:t>tool</a:t>
            </a:r>
            <a:r>
              <a:rPr lang="es-ES" b="1" dirty="0"/>
              <a:t>):</a:t>
            </a:r>
            <a:r>
              <a:rPr lang="es-ES" dirty="0"/>
              <a:t> herramienta muy usada para crear modelos SQL que generan tablas o vistas en el </a:t>
            </a:r>
            <a:r>
              <a:rPr lang="es-ES" dirty="0" err="1"/>
              <a:t>Lakehouse</a:t>
            </a:r>
            <a:r>
              <a:rPr lang="es-ES" dirty="0"/>
              <a:t>. </a:t>
            </a:r>
            <a:r>
              <a:rPr lang="es-ES" dirty="0" err="1"/>
              <a:t>Lakehouse</a:t>
            </a:r>
            <a:r>
              <a:rPr lang="es-ES" dirty="0"/>
              <a:t> </a:t>
            </a:r>
            <a:r>
              <a:rPr lang="es-ES" dirty="0" err="1"/>
              <a:t>Monitoring</a:t>
            </a:r>
            <a:r>
              <a:rPr lang="es-ES" dirty="0"/>
              <a:t> puede conectarse y supervisar esas tablas automáticamente.</a:t>
            </a:r>
          </a:p>
          <a:p>
            <a:r>
              <a:rPr lang="es-ES" b="1" dirty="0"/>
              <a:t>DLT (Delta Live Tables):</a:t>
            </a:r>
            <a:r>
              <a:rPr lang="es-ES" dirty="0"/>
              <a:t> servicio nativo de </a:t>
            </a:r>
            <a:r>
              <a:rPr lang="es-ES" dirty="0" err="1"/>
              <a:t>Databricks</a:t>
            </a:r>
            <a:r>
              <a:rPr lang="es-ES" dirty="0"/>
              <a:t> para crear pipelines declarativos (</a:t>
            </a:r>
            <a:r>
              <a:rPr lang="es-ES" i="1" dirty="0" err="1"/>
              <a:t>Bronze</a:t>
            </a:r>
            <a:r>
              <a:rPr lang="es-ES" i="1" dirty="0"/>
              <a:t> → Silver → Gold</a:t>
            </a:r>
            <a:r>
              <a:rPr lang="es-ES" dirty="0"/>
              <a:t>) con control de calidad integrado. El monitor se puede activar sobre cualquiera de sus tablas.</a:t>
            </a:r>
          </a:p>
          <a:p>
            <a:r>
              <a:rPr lang="es-ES" b="1" dirty="0" err="1"/>
              <a:t>Workflows</a:t>
            </a:r>
            <a:r>
              <a:rPr lang="es-ES" b="1" dirty="0"/>
              <a:t>:</a:t>
            </a:r>
            <a:r>
              <a:rPr lang="es-ES" dirty="0"/>
              <a:t> hace referencia a los </a:t>
            </a:r>
            <a:r>
              <a:rPr lang="es-ES" i="1" dirty="0" err="1"/>
              <a:t>jobs</a:t>
            </a:r>
            <a:r>
              <a:rPr lang="es-ES" dirty="0"/>
              <a:t> o pipelines programados dentro de </a:t>
            </a:r>
            <a:r>
              <a:rPr lang="es-ES" dirty="0" err="1"/>
              <a:t>Databricks</a:t>
            </a:r>
            <a:r>
              <a:rPr lang="es-ES" dirty="0"/>
              <a:t>. El monitor puede ejecutarse como parte del flujo, verificando la calidad al finalizar cada tarea.</a:t>
            </a:r>
          </a:p>
          <a:p>
            <a:r>
              <a:rPr lang="es-ES" b="1" dirty="0"/>
              <a:t>DB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se refiere a </a:t>
            </a:r>
            <a:r>
              <a:rPr lang="es-ES" dirty="0" err="1"/>
              <a:t>Databricks</a:t>
            </a:r>
            <a:r>
              <a:rPr lang="es-ES" dirty="0"/>
              <a:t> SQL </a:t>
            </a:r>
            <a:r>
              <a:rPr lang="es-ES" dirty="0" err="1"/>
              <a:t>Serving</a:t>
            </a:r>
            <a:r>
              <a:rPr lang="es-ES" dirty="0"/>
              <a:t>, que expone tablas o modelos a herramientas como Power BI o </a:t>
            </a:r>
            <a:r>
              <a:rPr lang="es-ES" dirty="0" err="1"/>
              <a:t>Tableau</a:t>
            </a:r>
            <a:r>
              <a:rPr lang="es-ES" dirty="0"/>
              <a:t>. Las tablas publicadas también pueden estar monitorizadas.</a:t>
            </a:r>
          </a:p>
          <a:p>
            <a:r>
              <a:rPr lang="es-ES" b="1" dirty="0"/>
              <a:t>3rd-party </a:t>
            </a:r>
            <a:r>
              <a:rPr lang="es-ES" b="1" dirty="0" err="1"/>
              <a:t>Serving</a:t>
            </a:r>
            <a:r>
              <a:rPr lang="es-ES" b="1" dirty="0"/>
              <a:t>:</a:t>
            </a:r>
            <a:r>
              <a:rPr lang="es-ES" dirty="0"/>
              <a:t> abarca servicios externos de consumo de datos (</a:t>
            </a:r>
            <a:r>
              <a:rPr lang="es-ES" dirty="0" err="1"/>
              <a:t>APIs</a:t>
            </a:r>
            <a:r>
              <a:rPr lang="es-ES" dirty="0"/>
              <a:t>, </a:t>
            </a:r>
            <a:r>
              <a:rPr lang="es-ES" dirty="0" err="1"/>
              <a:t>Snowflake</a:t>
            </a:r>
            <a:r>
              <a:rPr lang="es-ES" dirty="0"/>
              <a:t>, </a:t>
            </a:r>
            <a:r>
              <a:rPr lang="es-ES" dirty="0" err="1"/>
              <a:t>Redshift</a:t>
            </a:r>
            <a:r>
              <a:rPr lang="es-ES" dirty="0"/>
              <a:t> o entornos de ML externos). El monitor puede controlar la calidad de los datos antes de que salgan del </a:t>
            </a:r>
            <a:r>
              <a:rPr lang="es-ES" dirty="0" err="1"/>
              <a:t>Lakehouse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Para cualquiera de estas fuentes, </a:t>
            </a:r>
            <a:r>
              <a:rPr lang="es-ES" b="1" dirty="0"/>
              <a:t>puedes añadir un “monitor” de la misma forma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 una solución </a:t>
            </a:r>
            <a:r>
              <a:rPr lang="es-ES" b="1" dirty="0"/>
              <a:t>escalable y basada en IA</a:t>
            </a:r>
            <a:r>
              <a:rPr lang="es-ES" dirty="0"/>
              <a:t> que crea automáticamente dos tablas de métricas:</a:t>
            </a:r>
          </a:p>
          <a:p>
            <a:r>
              <a:rPr lang="es-ES" b="1" dirty="0"/>
              <a:t>1. </a:t>
            </a:r>
            <a:r>
              <a:rPr lang="es-ES" b="1" dirty="0" err="1"/>
              <a:t>Profiling</a:t>
            </a:r>
            <a:r>
              <a:rPr lang="es-ES" b="1" dirty="0"/>
              <a:t> Data Table:</a:t>
            </a:r>
            <a:r>
              <a:rPr lang="es-ES" dirty="0"/>
              <a:t> incluye estadísticas como porcentaje de nulos, valores mínimo, máximo o mediana.</a:t>
            </a:r>
          </a:p>
          <a:p>
            <a:r>
              <a:rPr lang="es-ES" b="1" dirty="0"/>
              <a:t>2. </a:t>
            </a:r>
            <a:r>
              <a:rPr lang="es-ES" b="1" dirty="0" err="1"/>
              <a:t>Drift</a:t>
            </a:r>
            <a:r>
              <a:rPr lang="es-ES" b="1" dirty="0"/>
              <a:t> Data Table:</a:t>
            </a:r>
            <a:r>
              <a:rPr lang="es-ES" dirty="0"/>
              <a:t> mide la evolución o deriva de esas métricas (por ejemplo, la variación en porcentaje de nulos o en el rango de valores).</a:t>
            </a:r>
          </a:p>
          <a:p>
            <a:endParaRPr lang="es-ES" dirty="0"/>
          </a:p>
          <a:p>
            <a:r>
              <a:rPr lang="es-ES" dirty="0"/>
              <a:t>Lo más importante es que </a:t>
            </a:r>
            <a:r>
              <a:rPr lang="es-ES" b="1" dirty="0"/>
              <a:t>no necesitas mantener ningún pipeline adicional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El monitor se actualiza automáticamente, genera </a:t>
            </a:r>
            <a:r>
              <a:rPr lang="es-ES" b="1" dirty="0" err="1"/>
              <a:t>dashboards</a:t>
            </a:r>
            <a:r>
              <a:rPr lang="es-ES" dirty="0"/>
              <a:t> listos para explorar las métricas y permite configurar </a:t>
            </a:r>
            <a:r>
              <a:rPr lang="es-ES" b="1" dirty="0"/>
              <a:t>alertas</a:t>
            </a:r>
            <a:r>
              <a:rPr lang="es-ES" dirty="0"/>
              <a:t> para detectar cualquier desviación significativa.</a:t>
            </a:r>
          </a:p>
          <a:p>
            <a:pPr marL="228600" indent="-228600">
              <a:buAutoNum type="arabicPeriod"/>
            </a:pPr>
            <a:endParaRPr lang="es-ES" b="0" dirty="0"/>
          </a:p>
          <a:p>
            <a:endParaRPr lang="es-ES" b="1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41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B690-C1C5-024E-5A5F-9BFF7F13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B073BD-1102-9030-D110-ACFC6605F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2F8B39-3989-09FE-390D-32ED40019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838DFB-3976-DE88-39D9-7BC676704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49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7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sv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25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5239-C5AA-9936-2A64-C1AF9816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CA42802-BC79-E26E-F940-B9FC1BDD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latin typeface="Montserrat" panose="00000500000000000000" pitchFamily="2" charset="0"/>
              </a:rPr>
              <a:t>Indice</a:t>
            </a:r>
            <a:r>
              <a:rPr lang="es-ES" dirty="0">
                <a:latin typeface="Montserrat" panose="00000500000000000000" pitchFamily="2" charset="0"/>
              </a:rPr>
              <a:t> de la Sesión 3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FA5AF9-34E2-BA79-E638-5B33DCC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12776"/>
            <a:ext cx="8136904" cy="468052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457200" lvl="1" indent="0">
              <a:buNone/>
            </a:pPr>
            <a:endParaRPr lang="es-ES" sz="1600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&amp; Visualizar Modelo Relacional &amp; Uso de Genie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and </a:t>
            </a:r>
            <a:r>
              <a:rPr lang="es-ES" dirty="0" err="1">
                <a:latin typeface="Montserrat" panose="00000500000000000000" pitchFamily="2" charset="0"/>
              </a:rPr>
              <a:t>Collaboration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Auditing</a:t>
            </a:r>
            <a:r>
              <a:rPr lang="es-ES" dirty="0">
                <a:latin typeface="Montserrat" panose="00000500000000000000" pitchFamily="2" charset="0"/>
              </a:rPr>
              <a:t>: Tablas de sistema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br>
              <a:rPr lang="es-ES" dirty="0">
                <a:latin typeface="Montserrat" panose="00000500000000000000" pitchFamily="2" charset="0"/>
              </a:rPr>
            </a:br>
            <a:endParaRPr lang="es-ES" dirty="0">
              <a:latin typeface="Montserrat" panose="00000500000000000000" pitchFamily="2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s-ES" dirty="0">
                <a:latin typeface="Montserrat" panose="00000500000000000000" pitchFamily="2" charset="0"/>
              </a:rPr>
              <a:t>Quiz</a:t>
            </a:r>
            <a:endParaRPr lang="es-ES" sz="1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7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UNITY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CATALOG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4">
            <a:extLst>
              <a:ext uri="{FF2B5EF4-FFF2-40B4-BE49-F238E27FC236}">
                <a16:creationId xmlns:a16="http://schemas.microsoft.com/office/drawing/2014/main" id="{5B2ADFA1-8002-916A-E0B7-C661C550A918}"/>
              </a:ext>
            </a:extLst>
          </p:cNvPr>
          <p:cNvGrpSpPr/>
          <p:nvPr/>
        </p:nvGrpSpPr>
        <p:grpSpPr>
          <a:xfrm>
            <a:off x="395536" y="2780928"/>
            <a:ext cx="8424936" cy="2016224"/>
            <a:chOff x="395536" y="3284984"/>
            <a:chExt cx="8424936" cy="201622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761BE6-8E35-5239-2071-B043EE5BF8A7}"/>
                </a:ext>
              </a:extLst>
            </p:cNvPr>
            <p:cNvSpPr/>
            <p:nvPr/>
          </p:nvSpPr>
          <p:spPr>
            <a:xfrm>
              <a:off x="395536" y="3284984"/>
              <a:ext cx="8424936" cy="2016224"/>
            </a:xfrm>
            <a:prstGeom prst="rect">
              <a:avLst/>
            </a:prstGeom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C229099-D1C4-FC32-20A2-67C7BD198F83}"/>
                </a:ext>
              </a:extLst>
            </p:cNvPr>
            <p:cNvSpPr/>
            <p:nvPr/>
          </p:nvSpPr>
          <p:spPr>
            <a:xfrm>
              <a:off x="626448" y="4293096"/>
              <a:ext cx="7949545" cy="79208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Metadata</a:t>
              </a:r>
              <a:r>
                <a:rPr lang="es-ES" sz="1600" dirty="0"/>
                <a:t> Management</a:t>
              </a:r>
            </a:p>
            <a:p>
              <a:pPr algn="ctr"/>
              <a:r>
                <a:rPr lang="es-ES" sz="1600" dirty="0"/>
                <a:t>(Files | Tables | ML </a:t>
              </a:r>
              <a:r>
                <a:rPr lang="es-ES" sz="1600" dirty="0" err="1"/>
                <a:t>Models</a:t>
              </a:r>
              <a:r>
                <a:rPr lang="es-ES" sz="1600" dirty="0"/>
                <a:t> | Notebooks | </a:t>
              </a:r>
              <a:r>
                <a:rPr lang="es-ES" sz="1600" dirty="0" err="1"/>
                <a:t>Dashboards</a:t>
              </a:r>
              <a:r>
                <a:rPr lang="es-ES" sz="1600" dirty="0"/>
                <a:t>)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07768FA-AE5B-B194-5781-DF1A44A5AB28}"/>
                </a:ext>
              </a:extLst>
            </p:cNvPr>
            <p:cNvSpPr/>
            <p:nvPr/>
          </p:nvSpPr>
          <p:spPr>
            <a:xfrm>
              <a:off x="63426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Access</a:t>
              </a:r>
            </a:p>
            <a:p>
              <a:pPr algn="ctr"/>
              <a:r>
                <a:rPr lang="es-ES" sz="1600" dirty="0" err="1"/>
                <a:t>Controls</a:t>
              </a:r>
              <a:endParaRPr lang="es-ES" sz="16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A2BC39B-DDDC-EB9F-3FEC-7BD701DDE43E}"/>
                </a:ext>
              </a:extLst>
            </p:cNvPr>
            <p:cNvSpPr/>
            <p:nvPr/>
          </p:nvSpPr>
          <p:spPr>
            <a:xfrm>
              <a:off x="197971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/>
                <a:t>Discovery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D755E14-37E9-200A-13D2-3891DA797952}"/>
                </a:ext>
              </a:extLst>
            </p:cNvPr>
            <p:cNvSpPr/>
            <p:nvPr/>
          </p:nvSpPr>
          <p:spPr>
            <a:xfrm>
              <a:off x="332897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Lineage</a:t>
              </a:r>
              <a:endParaRPr lang="es-ES" sz="1600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CC73782-79DD-0543-F048-724F281BA7C8}"/>
                </a:ext>
              </a:extLst>
            </p:cNvPr>
            <p:cNvSpPr/>
            <p:nvPr/>
          </p:nvSpPr>
          <p:spPr>
            <a:xfrm>
              <a:off x="4678242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Sharing</a:t>
              </a:r>
              <a:endParaRPr lang="es-ES" sz="1600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0A01DED-CECF-E81B-A6D1-02F167A1D7C2}"/>
                </a:ext>
              </a:extLst>
            </p:cNvPr>
            <p:cNvSpPr/>
            <p:nvPr/>
          </p:nvSpPr>
          <p:spPr>
            <a:xfrm>
              <a:off x="6027507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Auditing</a:t>
              </a:r>
              <a:endParaRPr lang="es-ES" sz="1600" dirty="0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96940DA-EB7D-029B-23EE-875C06A57881}"/>
                </a:ext>
              </a:extLst>
            </p:cNvPr>
            <p:cNvSpPr/>
            <p:nvPr/>
          </p:nvSpPr>
          <p:spPr>
            <a:xfrm>
              <a:off x="7374564" y="3573016"/>
              <a:ext cx="1201429" cy="6012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 err="1"/>
                <a:t>Monitoring</a:t>
              </a:r>
              <a:endParaRPr lang="es-ES" sz="1600" dirty="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66744B4-8C1E-F4CD-567E-1043F9800969}"/>
              </a:ext>
            </a:extLst>
          </p:cNvPr>
          <p:cNvSpPr txBox="1"/>
          <p:nvPr/>
        </p:nvSpPr>
        <p:spPr>
          <a:xfrm>
            <a:off x="1115616" y="1859657"/>
            <a:ext cx="7200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latin typeface="Montserrat" panose="00000500000000000000" pitchFamily="2" charset="0"/>
              </a:rPr>
              <a:t>Unity </a:t>
            </a:r>
            <a:r>
              <a:rPr lang="es-ES" sz="1000" b="1" dirty="0" err="1">
                <a:latin typeface="Montserrat" panose="00000500000000000000" pitchFamily="2" charset="0"/>
              </a:rPr>
              <a:t>Catalog</a:t>
            </a:r>
            <a:r>
              <a:rPr lang="es-ES" sz="1000" dirty="0">
                <a:latin typeface="Montserrat" panose="00000500000000000000" pitchFamily="2" charset="0"/>
              </a:rPr>
              <a:t> es la solución de </a:t>
            </a:r>
            <a:r>
              <a:rPr lang="es-ES" sz="1000" b="1" dirty="0">
                <a:latin typeface="Montserrat" panose="00000500000000000000" pitchFamily="2" charset="0"/>
              </a:rPr>
              <a:t>gobernanza unificada de datos e inteligencia artificial</a:t>
            </a:r>
            <a:r>
              <a:rPr lang="es-ES" sz="1000" dirty="0">
                <a:latin typeface="Montserrat" panose="00000500000000000000" pitchFamily="2" charset="0"/>
              </a:rPr>
              <a:t> en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38" name="Google Shape;303;g35ee5cc475b_0_63">
            <a:extLst>
              <a:ext uri="{FF2B5EF4-FFF2-40B4-BE49-F238E27FC236}">
                <a16:creationId xmlns:a16="http://schemas.microsoft.com/office/drawing/2014/main" id="{B55AE80E-A0D7-63A0-9384-04C2ACABF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28" y="365125"/>
            <a:ext cx="8496944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0. Introducción a UC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Continuamos con…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10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46EBD-A392-AA1A-5D42-7AF3F70E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BC3E251-C58F-1BBD-2A1F-44909CB45CBF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</p:txBody>
      </p:sp>
    </p:spTree>
    <p:extLst>
      <p:ext uri="{BB962C8B-B14F-4D97-AF65-F5344CB8AC3E}">
        <p14:creationId xmlns:p14="http://schemas.microsoft.com/office/powerpoint/2010/main" val="2960588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DD18DE86-0851-17AD-9C20-79EB67B16C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1. Data </a:t>
            </a:r>
            <a:r>
              <a:rPr lang="es-ES" dirty="0" err="1">
                <a:latin typeface="Montserrat" panose="00000500000000000000" pitchFamily="2" charset="0"/>
              </a:rPr>
              <a:t>Lineage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¿Porque es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importante?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234AD5-B5CC-95B8-F307-FCDB4CA037AD}"/>
              </a:ext>
            </a:extLst>
          </p:cNvPr>
          <p:cNvSpPr/>
          <p:nvPr/>
        </p:nvSpPr>
        <p:spPr>
          <a:xfrm>
            <a:off x="539552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Compliance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Requisitos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regulatorios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para verificar el linaje de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Traquear la posible propagación de datos sensibles a través de </a:t>
            </a:r>
            <a:r>
              <a:rPr lang="es-ES" sz="1000" dirty="0" err="1">
                <a:solidFill>
                  <a:schemeClr val="tx1"/>
                </a:solidFill>
                <a:latin typeface="Montserrat" panose="00000500000000000000" pitchFamily="2" charset="0"/>
              </a:rPr>
              <a:t>datsets</a:t>
            </a: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5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8685BD-94D2-3027-F604-7D392552202A}"/>
              </a:ext>
            </a:extLst>
          </p:cNvPr>
          <p:cNvSpPr/>
          <p:nvPr/>
        </p:nvSpPr>
        <p:spPr>
          <a:xfrm>
            <a:off x="3339319" y="1622336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</a:t>
            </a:r>
            <a:r>
              <a:rPr lang="es-ES" sz="1200" b="1" dirty="0">
                <a:solidFill>
                  <a:schemeClr val="tx1"/>
                </a:solidFill>
                <a:latin typeface="Montserrat" panose="00000500000000000000" pitchFamily="2" charset="0"/>
              </a:rPr>
              <a:t>Discovery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Entender 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contexto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 y la veracidad de los datos antes de usarlos en análisis.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Prevenir duplicar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trabajo y datos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C87CE47-DFB1-667B-BC5B-2DDB444295FD}"/>
              </a:ext>
            </a:extLst>
          </p:cNvPr>
          <p:cNvSpPr/>
          <p:nvPr/>
        </p:nvSpPr>
        <p:spPr>
          <a:xfrm>
            <a:off x="6139086" y="1628800"/>
            <a:ext cx="2376264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100" b="1" dirty="0">
                <a:solidFill>
                  <a:schemeClr val="tx1"/>
                </a:solidFill>
                <a:latin typeface="Montserrat" panose="00000500000000000000" pitchFamily="2" charset="0"/>
              </a:rPr>
              <a:t>        </a:t>
            </a:r>
            <a:r>
              <a:rPr lang="es-ES" sz="1200" b="1" dirty="0" err="1">
                <a:solidFill>
                  <a:schemeClr val="tx1"/>
                </a:solidFill>
                <a:latin typeface="Montserrat" panose="00000500000000000000" pitchFamily="2" charset="0"/>
              </a:rPr>
              <a:t>Observability</a:t>
            </a:r>
            <a:endParaRPr lang="es-ES" sz="1100" b="1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Detecta problemas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o discrepancias en los informes rastreando los datos.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Analizar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el </a:t>
            </a:r>
            <a:r>
              <a:rPr lang="es-ES" sz="1000" b="1" dirty="0">
                <a:solidFill>
                  <a:schemeClr val="tx1"/>
                </a:solidFill>
                <a:latin typeface="Montserrat" panose="00000500000000000000" pitchFamily="2" charset="0"/>
              </a:rPr>
              <a:t>impacto de cambios propuestos </a:t>
            </a:r>
            <a:r>
              <a:rPr lang="es-ES" sz="1000" dirty="0">
                <a:solidFill>
                  <a:schemeClr val="tx1"/>
                </a:solidFill>
                <a:latin typeface="Montserrat" panose="00000500000000000000" pitchFamily="2" charset="0"/>
              </a:rPr>
              <a:t>a reportes aguas abajo</a:t>
            </a: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endParaRPr lang="es-E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76377B4-C61F-5105-1E44-743E811D77B2}"/>
              </a:ext>
            </a:extLst>
          </p:cNvPr>
          <p:cNvGrpSpPr/>
          <p:nvPr/>
        </p:nvGrpSpPr>
        <p:grpSpPr>
          <a:xfrm>
            <a:off x="3079852" y="1556792"/>
            <a:ext cx="72752" cy="3264175"/>
            <a:chOff x="3079852" y="1556792"/>
            <a:chExt cx="72752" cy="3264175"/>
          </a:xfrm>
        </p:grpSpPr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CFACC08-9400-941B-D45E-49CFD4800ED3}"/>
                </a:ext>
              </a:extLst>
            </p:cNvPr>
            <p:cNvCxnSpPr>
              <a:cxnSpLocks/>
              <a:endCxn id="26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A1EBB183-EA51-F5E1-3195-C4C7D2C6E70B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AE986975-EA17-D99C-D839-6B5AB68B33C3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507054CB-5C0A-2F6C-840A-E8D9E0BDF7B4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C7E24212-0843-5145-91BC-1E1C932FCB25}"/>
              </a:ext>
            </a:extLst>
          </p:cNvPr>
          <p:cNvGrpSpPr/>
          <p:nvPr/>
        </p:nvGrpSpPr>
        <p:grpSpPr>
          <a:xfrm>
            <a:off x="5901926" y="1544884"/>
            <a:ext cx="72752" cy="3264175"/>
            <a:chOff x="3079852" y="1556792"/>
            <a:chExt cx="72752" cy="3264175"/>
          </a:xfrm>
        </p:grpSpPr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51EC6C7-809D-C728-6ED4-53720A5993A8}"/>
                </a:ext>
              </a:extLst>
            </p:cNvPr>
            <p:cNvCxnSpPr>
              <a:cxnSpLocks/>
              <a:endCxn id="43" idx="4"/>
            </p:cNvCxnSpPr>
            <p:nvPr/>
          </p:nvCxnSpPr>
          <p:spPr>
            <a:xfrm flipH="1">
              <a:off x="3115856" y="1556792"/>
              <a:ext cx="744" cy="32641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A0580E21-D79F-99C5-D9F5-63D6218D04F0}"/>
                </a:ext>
              </a:extLst>
            </p:cNvPr>
            <p:cNvGrpSpPr/>
            <p:nvPr/>
          </p:nvGrpSpPr>
          <p:grpSpPr>
            <a:xfrm>
              <a:off x="3079852" y="1560412"/>
              <a:ext cx="72752" cy="3260555"/>
              <a:chOff x="3079852" y="1560412"/>
              <a:chExt cx="72752" cy="3260555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EAA1AF96-8FA6-7C7E-5A32-9FE3497C7B12}"/>
                  </a:ext>
                </a:extLst>
              </p:cNvPr>
              <p:cNvSpPr/>
              <p:nvPr/>
            </p:nvSpPr>
            <p:spPr>
              <a:xfrm>
                <a:off x="3080596" y="1560412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8490B402-ACBA-9F71-B7B2-EA1384E766B7}"/>
                  </a:ext>
                </a:extLst>
              </p:cNvPr>
              <p:cNvSpPr/>
              <p:nvPr/>
            </p:nvSpPr>
            <p:spPr>
              <a:xfrm>
                <a:off x="3079852" y="4748959"/>
                <a:ext cx="72008" cy="7200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pic>
        <p:nvPicPr>
          <p:cNvPr id="45" name="Imagen 44" descr="Forma&#10;&#10;El contenido generado por IA puede ser incorrecto.">
            <a:extLst>
              <a:ext uri="{FF2B5EF4-FFF2-40B4-BE49-F238E27FC236}">
                <a16:creationId xmlns:a16="http://schemas.microsoft.com/office/drawing/2014/main" id="{B71F0A05-BBCF-6312-019C-65C34D22F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36" y="1980677"/>
            <a:ext cx="296195" cy="296195"/>
          </a:xfrm>
          <a:prstGeom prst="rect">
            <a:avLst/>
          </a:prstGeom>
        </p:spPr>
      </p:pic>
      <p:pic>
        <p:nvPicPr>
          <p:cNvPr id="47" name="Imagen 46" descr="Forma&#10;&#10;El contenido generado por IA puede ser incorrecto.">
            <a:extLst>
              <a:ext uri="{FF2B5EF4-FFF2-40B4-BE49-F238E27FC236}">
                <a16:creationId xmlns:a16="http://schemas.microsoft.com/office/drawing/2014/main" id="{7CF28DDE-FB8A-9407-3C04-8240FDAA1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96" y="1980676"/>
            <a:ext cx="296195" cy="296195"/>
          </a:xfrm>
          <a:prstGeom prst="rect">
            <a:avLst/>
          </a:prstGeom>
        </p:spPr>
      </p:pic>
      <p:pic>
        <p:nvPicPr>
          <p:cNvPr id="49" name="Imagen 48" descr="Forma&#10;&#10;El contenido generado por IA puede ser incorrecto.">
            <a:extLst>
              <a:ext uri="{FF2B5EF4-FFF2-40B4-BE49-F238E27FC236}">
                <a16:creationId xmlns:a16="http://schemas.microsoft.com/office/drawing/2014/main" id="{BA5632DD-9084-4007-61D4-19D8C8ADC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066" y="1980677"/>
            <a:ext cx="296195" cy="29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2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2411760" y="1484784"/>
            <a:ext cx="417646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LINEAGE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+ 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VISUALIZAR MODELO RELACIONAL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+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GENIE</a:t>
            </a: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A6A58-FD63-85F5-DE0E-4A3411C46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AF2169E-B2BD-2A0F-6F1A-F20D6556C8B7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DELTA SHARING</a:t>
            </a:r>
          </a:p>
        </p:txBody>
      </p:sp>
    </p:spTree>
    <p:extLst>
      <p:ext uri="{BB962C8B-B14F-4D97-AF65-F5344CB8AC3E}">
        <p14:creationId xmlns:p14="http://schemas.microsoft.com/office/powerpoint/2010/main" val="2263065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24F4-CB84-7742-BE5F-DDA6F7DD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4E2B5D-2799-6D4E-B445-D16756D24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730" y="1238819"/>
            <a:ext cx="6887611" cy="31797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000" dirty="0">
                <a:latin typeface="Montserrat" panose="00000500000000000000" pitchFamily="2" charset="0"/>
              </a:rPr>
              <a:t>¿Como UC me permite compartir datos dentro y fuera de la empresa de manera simple, rápida y segura?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3B40870-EC57-69E0-E450-89B2D72D2BD8}"/>
              </a:ext>
            </a:extLst>
          </p:cNvPr>
          <p:cNvGrpSpPr/>
          <p:nvPr/>
        </p:nvGrpSpPr>
        <p:grpSpPr>
          <a:xfrm>
            <a:off x="979667" y="2276872"/>
            <a:ext cx="1578768" cy="1422814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B280C548-81D6-91F3-EEFC-AA71C214AC3C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" name="Imagen 9" descr="Icono&#10;&#10;El contenido generado por IA puede ser incorrecto.">
              <a:extLst>
                <a:ext uri="{FF2B5EF4-FFF2-40B4-BE49-F238E27FC236}">
                  <a16:creationId xmlns:a16="http://schemas.microsoft.com/office/drawing/2014/main" id="{965590B6-9B4F-2F9E-F1D4-0728BCB55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64615A5-3843-D529-C80C-C09888E166F1}"/>
              </a:ext>
            </a:extLst>
          </p:cNvPr>
          <p:cNvGrpSpPr/>
          <p:nvPr/>
        </p:nvGrpSpPr>
        <p:grpSpPr>
          <a:xfrm>
            <a:off x="3782616" y="2276872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825B59F-CC9D-352A-9A57-9043EB741E40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5" name="Imagen 14" descr="Icono&#10;&#10;El contenido generado por IA puede ser incorrecto.">
              <a:extLst>
                <a:ext uri="{FF2B5EF4-FFF2-40B4-BE49-F238E27FC236}">
                  <a16:creationId xmlns:a16="http://schemas.microsoft.com/office/drawing/2014/main" id="{29B3F9E4-87E2-F529-C6FE-6C0F5AB11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305C258-A9DD-6DD4-0B8C-40D1452A3521}"/>
              </a:ext>
            </a:extLst>
          </p:cNvPr>
          <p:cNvGrpSpPr/>
          <p:nvPr/>
        </p:nvGrpSpPr>
        <p:grpSpPr>
          <a:xfrm>
            <a:off x="6587425" y="2276871"/>
            <a:ext cx="1578768" cy="1422814"/>
            <a:chOff x="2057128" y="3237240"/>
            <a:chExt cx="1578768" cy="1422814"/>
          </a:xfrm>
          <a:solidFill>
            <a:srgbClr val="F2F2F2"/>
          </a:solidFill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128F639D-E26D-A822-D5F3-529FEB179836}"/>
                </a:ext>
              </a:extLst>
            </p:cNvPr>
            <p:cNvSpPr/>
            <p:nvPr/>
          </p:nvSpPr>
          <p:spPr>
            <a:xfrm>
              <a:off x="2057128" y="323724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1" name="Imagen 20" descr="Icono&#10;&#10;El contenido generado por IA puede ser incorrecto.">
              <a:extLst>
                <a:ext uri="{FF2B5EF4-FFF2-40B4-BE49-F238E27FC236}">
                  <a16:creationId xmlns:a16="http://schemas.microsoft.com/office/drawing/2014/main" id="{8E79EB3E-52CE-4536-1763-7976DF681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4441" y="3518428"/>
              <a:ext cx="860438" cy="860438"/>
            </a:xfrm>
            <a:prstGeom prst="rect">
              <a:avLst/>
            </a:prstGeom>
            <a:grpFill/>
          </p:spPr>
        </p:pic>
      </p:grp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24C6CB1C-9F12-710F-0CD3-1188BAD8BD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Opciones disponibles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E570034-1FC1-8A1A-A0A6-65C6239AE527}"/>
              </a:ext>
            </a:extLst>
          </p:cNvPr>
          <p:cNvSpPr txBox="1"/>
          <p:nvPr/>
        </p:nvSpPr>
        <p:spPr>
          <a:xfrm>
            <a:off x="1300999" y="3861048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latin typeface="Montserrat" panose="00000500000000000000" pitchFamily="2" charset="0"/>
              </a:rPr>
              <a:t>Delta </a:t>
            </a:r>
            <a:r>
              <a:rPr lang="es-ES" sz="1200" b="1" dirty="0" err="1">
                <a:latin typeface="Montserrat" panose="00000500000000000000" pitchFamily="2" charset="0"/>
              </a:rPr>
              <a:t>Sharing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8D49025-13CD-6F90-AE0A-79340321770A}"/>
              </a:ext>
            </a:extLst>
          </p:cNvPr>
          <p:cNvSpPr txBox="1"/>
          <p:nvPr/>
        </p:nvSpPr>
        <p:spPr>
          <a:xfrm>
            <a:off x="3951430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r>
              <a:rPr lang="es-ES" sz="1200" b="1" dirty="0">
                <a:latin typeface="Montserrat" panose="00000500000000000000" pitchFamily="2" charset="0"/>
              </a:rPr>
              <a:t> Marketplace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ECE6A06-32F6-60B5-6DFB-9918D0F2E8BC}"/>
              </a:ext>
            </a:extLst>
          </p:cNvPr>
          <p:cNvSpPr txBox="1"/>
          <p:nvPr/>
        </p:nvSpPr>
        <p:spPr>
          <a:xfrm>
            <a:off x="6748091" y="3861048"/>
            <a:ext cx="1257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endParaRPr lang="es-ES" sz="1200" b="1" dirty="0">
              <a:latin typeface="Montserrat" panose="00000500000000000000" pitchFamily="2" charset="0"/>
            </a:endParaRPr>
          </a:p>
          <a:p>
            <a:pPr algn="ctr"/>
            <a:r>
              <a:rPr lang="es-ES" sz="1200" b="1" dirty="0" err="1">
                <a:latin typeface="Montserrat" panose="00000500000000000000" pitchFamily="2" charset="0"/>
              </a:rPr>
              <a:t>Clean</a:t>
            </a:r>
            <a:r>
              <a:rPr lang="es-ES" sz="1200" b="1" dirty="0">
                <a:latin typeface="Montserrat" panose="00000500000000000000" pitchFamily="2" charset="0"/>
              </a:rPr>
              <a:t> </a:t>
            </a:r>
            <a:r>
              <a:rPr lang="es-ES" sz="1200" b="1" dirty="0" err="1">
                <a:latin typeface="Montserrat" panose="00000500000000000000" pitchFamily="2" charset="0"/>
              </a:rPr>
              <a:t>Room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D0237BF-7DF7-971D-44A9-EF4CCA4CCEC6}"/>
              </a:ext>
            </a:extLst>
          </p:cNvPr>
          <p:cNvSpPr txBox="1"/>
          <p:nvPr/>
        </p:nvSpPr>
        <p:spPr>
          <a:xfrm>
            <a:off x="1115617" y="450912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</a:t>
            </a:r>
            <a:r>
              <a:rPr lang="es-ES" sz="1200" dirty="0" err="1">
                <a:latin typeface="Montserrat" panose="00000500000000000000" pitchFamily="2" charset="0"/>
              </a:rPr>
              <a:t>Sharing</a:t>
            </a:r>
            <a:r>
              <a:rPr lang="es-ES" sz="1200" dirty="0">
                <a:latin typeface="Montserrat" panose="00000500000000000000" pitchFamily="2" charset="0"/>
              </a:rPr>
              <a:t> entre organizaciones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D4D5100-727F-492B-0BA0-A53ADC89DD12}"/>
              </a:ext>
            </a:extLst>
          </p:cNvPr>
          <p:cNvSpPr txBox="1"/>
          <p:nvPr/>
        </p:nvSpPr>
        <p:spPr>
          <a:xfrm>
            <a:off x="3644044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Open Marketplace para todos tus datos, IA y aplicaciones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1A34805-09C3-C350-0413-B58FB956E24D}"/>
              </a:ext>
            </a:extLst>
          </p:cNvPr>
          <p:cNvSpPr txBox="1"/>
          <p:nvPr/>
        </p:nvSpPr>
        <p:spPr>
          <a:xfrm>
            <a:off x="6440705" y="4509119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Espacio privado de computación y colaboración</a:t>
            </a:r>
          </a:p>
        </p:txBody>
      </p:sp>
    </p:spTree>
    <p:extLst>
      <p:ext uri="{BB962C8B-B14F-4D97-AF65-F5344CB8AC3E}">
        <p14:creationId xmlns:p14="http://schemas.microsoft.com/office/powerpoint/2010/main" val="144604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130-3270-0359-E2D8-9CA8CA90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A3EFFC0-87D8-7546-0108-988F6DDF9EE3}"/>
              </a:ext>
            </a:extLst>
          </p:cNvPr>
          <p:cNvSpPr/>
          <p:nvPr/>
        </p:nvSpPr>
        <p:spPr>
          <a:xfrm>
            <a:off x="4988039" y="2011245"/>
            <a:ext cx="3188604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CD913F-2F2F-443F-D081-0A463678F940}"/>
              </a:ext>
            </a:extLst>
          </p:cNvPr>
          <p:cNvSpPr/>
          <p:nvPr/>
        </p:nvSpPr>
        <p:spPr>
          <a:xfrm>
            <a:off x="539552" y="1987651"/>
            <a:ext cx="3168352" cy="177538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24508D-DCD4-89D3-42D2-15D650308482}"/>
              </a:ext>
            </a:extLst>
          </p:cNvPr>
          <p:cNvSpPr/>
          <p:nvPr/>
        </p:nvSpPr>
        <p:spPr>
          <a:xfrm>
            <a:off x="539552" y="1987651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92C57F-A9E1-1C1F-663B-6B1BFE64BAB3}"/>
              </a:ext>
            </a:extLst>
          </p:cNvPr>
          <p:cNvSpPr/>
          <p:nvPr/>
        </p:nvSpPr>
        <p:spPr>
          <a:xfrm>
            <a:off x="4998724" y="2023655"/>
            <a:ext cx="3096344" cy="170337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D395B16-B94D-9DC1-1E15-16AC092F9055}"/>
              </a:ext>
            </a:extLst>
          </p:cNvPr>
          <p:cNvSpPr/>
          <p:nvPr/>
        </p:nvSpPr>
        <p:spPr>
          <a:xfrm>
            <a:off x="89959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provider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D276BFB-E6CD-11D2-D875-F21A40DADBAE}"/>
              </a:ext>
            </a:extLst>
          </p:cNvPr>
          <p:cNvSpPr/>
          <p:nvPr/>
        </p:nvSpPr>
        <p:spPr>
          <a:xfrm>
            <a:off x="5279182" y="1843635"/>
            <a:ext cx="2376264" cy="288032"/>
          </a:xfrm>
          <a:prstGeom prst="roundRect">
            <a:avLst/>
          </a:prstGeom>
          <a:solidFill>
            <a:srgbClr val="507B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consumer</a:t>
            </a:r>
            <a:endParaRPr lang="es-ES" sz="1200" dirty="0">
              <a:latin typeface="Montserrat" panose="00000500000000000000" pitchFamily="2" charset="0"/>
            </a:endParaRPr>
          </a:p>
        </p:txBody>
      </p:sp>
      <p:pic>
        <p:nvPicPr>
          <p:cNvPr id="14" name="Imagen 13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6332F937-8355-33E9-A46C-FBDE7FD67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25" y="2400021"/>
            <a:ext cx="481546" cy="48154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34AE690-29A9-6BFE-E125-F67C50F1555F}"/>
              </a:ext>
            </a:extLst>
          </p:cNvPr>
          <p:cNvGrpSpPr/>
          <p:nvPr/>
        </p:nvGrpSpPr>
        <p:grpSpPr>
          <a:xfrm>
            <a:off x="965338" y="2743983"/>
            <a:ext cx="359342" cy="302209"/>
            <a:chOff x="3706417" y="3214370"/>
            <a:chExt cx="1578768" cy="1422814"/>
          </a:xfrm>
          <a:solidFill>
            <a:srgbClr val="F2F2F2"/>
          </a:solidFill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11662E6-5038-6653-C5F3-73D0EFAEB00F}"/>
                </a:ext>
              </a:extLst>
            </p:cNvPr>
            <p:cNvSpPr/>
            <p:nvPr/>
          </p:nvSpPr>
          <p:spPr>
            <a:xfrm>
              <a:off x="3706417" y="3214370"/>
              <a:ext cx="1578768" cy="1422814"/>
            </a:xfrm>
            <a:prstGeom prst="ellipse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3" name="Imagen 12" descr="Icono&#10;&#10;El contenido generado por IA puede ser incorrecto.">
              <a:extLst>
                <a:ext uri="{FF2B5EF4-FFF2-40B4-BE49-F238E27FC236}">
                  <a16:creationId xmlns:a16="http://schemas.microsoft.com/office/drawing/2014/main" id="{88D67C34-1DAD-7A0F-4461-1537D0C18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2777" y="3550535"/>
              <a:ext cx="886048" cy="750483"/>
            </a:xfrm>
            <a:prstGeom prst="rect">
              <a:avLst/>
            </a:prstGeom>
            <a:grpFill/>
          </p:spPr>
        </p:pic>
      </p:grp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11BBC8F-7A06-A030-7D75-16C5E0C421DD}"/>
              </a:ext>
            </a:extLst>
          </p:cNvPr>
          <p:cNvCxnSpPr/>
          <p:nvPr/>
        </p:nvCxnSpPr>
        <p:spPr>
          <a:xfrm>
            <a:off x="1851738" y="2632471"/>
            <a:ext cx="61151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AD34C76-08D1-4C92-ABA9-A199907D70A2}"/>
              </a:ext>
            </a:extLst>
          </p:cNvPr>
          <p:cNvGrpSpPr/>
          <p:nvPr/>
        </p:nvGrpSpPr>
        <p:grpSpPr>
          <a:xfrm>
            <a:off x="5076056" y="2193238"/>
            <a:ext cx="811649" cy="201641"/>
            <a:chOff x="5263901" y="3313943"/>
            <a:chExt cx="1080305" cy="295222"/>
          </a:xfrm>
        </p:grpSpPr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E044FD99-830E-7E1C-8373-6DC9726CF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63901" y="3333088"/>
              <a:ext cx="276077" cy="276077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0301B84-1D28-A7E8-1BCF-D785C490CD3C}"/>
                </a:ext>
              </a:extLst>
            </p:cNvPr>
            <p:cNvSpPr txBox="1"/>
            <p:nvPr/>
          </p:nvSpPr>
          <p:spPr>
            <a:xfrm>
              <a:off x="5439976" y="3313943"/>
              <a:ext cx="904230" cy="277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  <a:latin typeface="+mj-lt"/>
                </a:rPr>
                <a:t>pandas</a:t>
              </a:r>
            </a:p>
          </p:txBody>
        </p:sp>
      </p:grpSp>
      <p:pic>
        <p:nvPicPr>
          <p:cNvPr id="26" name="Imagen 25" descr="Logotipo&#10;&#10;El contenido generado por IA puede ser incorrecto.">
            <a:extLst>
              <a:ext uri="{FF2B5EF4-FFF2-40B4-BE49-F238E27FC236}">
                <a16:creationId xmlns:a16="http://schemas.microsoft.com/office/drawing/2014/main" id="{A17CD4E7-B8FB-14CF-147F-19AD93FB80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675" y="3299001"/>
            <a:ext cx="542639" cy="361759"/>
          </a:xfrm>
          <a:prstGeom prst="rect">
            <a:avLst/>
          </a:prstGeom>
        </p:spPr>
      </p:pic>
      <p:pic>
        <p:nvPicPr>
          <p:cNvPr id="42" name="Imagen 4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C07A5489-DB70-1C28-589C-6183DB53E2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349" y="2970943"/>
            <a:ext cx="328058" cy="328058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AF1371E4-FA7F-1E06-E98E-9963DD7060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6222" y="3235125"/>
            <a:ext cx="458643" cy="458643"/>
          </a:xfrm>
          <a:prstGeom prst="rect">
            <a:avLst/>
          </a:prstGeom>
        </p:spPr>
      </p:pic>
      <p:pic>
        <p:nvPicPr>
          <p:cNvPr id="52" name="Imagen 51" descr="Icono&#10;&#10;El contenido generado por IA puede ser incorrecto.">
            <a:extLst>
              <a:ext uri="{FF2B5EF4-FFF2-40B4-BE49-F238E27FC236}">
                <a16:creationId xmlns:a16="http://schemas.microsoft.com/office/drawing/2014/main" id="{14824560-8D8A-233C-E6BC-64813D3C88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644" y="2363043"/>
            <a:ext cx="587226" cy="587226"/>
          </a:xfrm>
          <a:prstGeom prst="rect">
            <a:avLst/>
          </a:prstGeom>
        </p:spPr>
      </p:pic>
      <p:pic>
        <p:nvPicPr>
          <p:cNvPr id="54" name="Imagen 53" descr="Icono&#10;&#10;El contenido generado por IA puede ser incorrecto.">
            <a:extLst>
              <a:ext uri="{FF2B5EF4-FFF2-40B4-BE49-F238E27FC236}">
                <a16:creationId xmlns:a16="http://schemas.microsoft.com/office/drawing/2014/main" id="{B076B5B2-3476-EDBC-D436-ED7ACE7867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100" y="2538895"/>
            <a:ext cx="296195" cy="296195"/>
          </a:xfrm>
          <a:prstGeom prst="rect">
            <a:avLst/>
          </a:prstGeom>
        </p:spPr>
      </p:pic>
      <p:pic>
        <p:nvPicPr>
          <p:cNvPr id="58" name="Imagen 57" descr="Código QR&#10;&#10;El contenido generado por IA puede ser incorrecto.">
            <a:extLst>
              <a:ext uri="{FF2B5EF4-FFF2-40B4-BE49-F238E27FC236}">
                <a16:creationId xmlns:a16="http://schemas.microsoft.com/office/drawing/2014/main" id="{167884AB-A9C0-4FFD-0337-98D6994977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934" y="2530732"/>
            <a:ext cx="296195" cy="296195"/>
          </a:xfrm>
          <a:prstGeom prst="rect">
            <a:avLst/>
          </a:prstGeom>
        </p:spPr>
      </p:pic>
      <p:pic>
        <p:nvPicPr>
          <p:cNvPr id="60" name="Imagen 5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B30588B7-63E3-B531-D3D8-2C4F89D350F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962780"/>
            <a:ext cx="296195" cy="296195"/>
          </a:xfrm>
          <a:prstGeom prst="rect">
            <a:avLst/>
          </a:prstGeom>
        </p:spPr>
      </p:pic>
      <p:sp>
        <p:nvSpPr>
          <p:cNvPr id="61" name="Google Shape;303;g35ee5cc475b_0_63">
            <a:extLst>
              <a:ext uri="{FF2B5EF4-FFF2-40B4-BE49-F238E27FC236}">
                <a16:creationId xmlns:a16="http://schemas.microsoft.com/office/drawing/2014/main" id="{F6E09A6E-C7F6-93EE-C773-CEBA3DB7A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Delta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Sharing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63" name="Imagen 62" descr="Dibujo en blanco y negro&#10;&#10;El contenido generado por IA puede ser incorrecto.">
            <a:extLst>
              <a:ext uri="{FF2B5EF4-FFF2-40B4-BE49-F238E27FC236}">
                <a16:creationId xmlns:a16="http://schemas.microsoft.com/office/drawing/2014/main" id="{13903288-9D5B-0F11-03B9-84949E3591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11" y="4227249"/>
            <a:ext cx="296195" cy="296195"/>
          </a:xfrm>
          <a:prstGeom prst="rect">
            <a:avLst/>
          </a:prstGeom>
        </p:spPr>
      </p:pic>
      <p:pic>
        <p:nvPicPr>
          <p:cNvPr id="65" name="Imagen 64" descr="Icono&#10;&#10;El contenido generado por IA puede ser incorrecto.">
            <a:extLst>
              <a:ext uri="{FF2B5EF4-FFF2-40B4-BE49-F238E27FC236}">
                <a16:creationId xmlns:a16="http://schemas.microsoft.com/office/drawing/2014/main" id="{D42593B7-67B1-D0C6-A995-A1518B662E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197" y="4240501"/>
            <a:ext cx="269268" cy="269268"/>
          </a:xfrm>
          <a:prstGeom prst="rect">
            <a:avLst/>
          </a:prstGeom>
        </p:spPr>
      </p:pic>
      <p:sp>
        <p:nvSpPr>
          <p:cNvPr id="66" name="CuadroTexto 65">
            <a:extLst>
              <a:ext uri="{FF2B5EF4-FFF2-40B4-BE49-F238E27FC236}">
                <a16:creationId xmlns:a16="http://schemas.microsoft.com/office/drawing/2014/main" id="{5F92E27E-BAA9-738A-4393-A2297B5ADB1F}"/>
              </a:ext>
            </a:extLst>
          </p:cNvPr>
          <p:cNvSpPr txBox="1"/>
          <p:nvPr/>
        </p:nvSpPr>
        <p:spPr>
          <a:xfrm>
            <a:off x="6804248" y="2826927"/>
            <a:ext cx="10081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Cualquier cliente compatible…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21C12AC-DF43-D15E-3309-605D3BC49426}"/>
              </a:ext>
            </a:extLst>
          </p:cNvPr>
          <p:cNvSpPr txBox="1"/>
          <p:nvPr/>
        </p:nvSpPr>
        <p:spPr>
          <a:xfrm>
            <a:off x="2476482" y="308084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Delta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Sharing</a:t>
            </a:r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 server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B1116FD-F94A-6735-5BF6-EFA31E9D2468}"/>
              </a:ext>
            </a:extLst>
          </p:cNvPr>
          <p:cNvSpPr txBox="1"/>
          <p:nvPr/>
        </p:nvSpPr>
        <p:spPr>
          <a:xfrm>
            <a:off x="539552" y="3050459"/>
            <a:ext cx="164949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Data &amp; AI </a:t>
            </a:r>
            <a:r>
              <a:rPr lang="es-ES" sz="900" dirty="0" err="1">
                <a:solidFill>
                  <a:schemeClr val="bg1"/>
                </a:solidFill>
                <a:latin typeface="Montserrat" panose="00000500000000000000" pitchFamily="2" charset="0"/>
              </a:rPr>
              <a:t>asset</a:t>
            </a:r>
            <a:endParaRPr lang="es-ES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s-ES" sz="900" dirty="0">
                <a:solidFill>
                  <a:schemeClr val="bg1"/>
                </a:solidFill>
                <a:latin typeface="Montserrat" panose="00000500000000000000" pitchFamily="2" charset="0"/>
              </a:rPr>
              <a:t>(tabla/vista/Archivo/catalogo federado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030ADC00-83D7-85B6-9477-7A0CAAC51C2E}"/>
              </a:ext>
            </a:extLst>
          </p:cNvPr>
          <p:cNvSpPr txBox="1"/>
          <p:nvPr/>
        </p:nvSpPr>
        <p:spPr>
          <a:xfrm>
            <a:off x="1345734" y="4181018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a través de </a:t>
            </a:r>
            <a:r>
              <a:rPr lang="es-ES" sz="1000" dirty="0" err="1">
                <a:latin typeface="Montserrat" panose="00000500000000000000" pitchFamily="2" charset="0"/>
              </a:rPr>
              <a:t>platadormas</a:t>
            </a:r>
            <a:endParaRPr lang="es-ES" sz="1000" dirty="0">
              <a:latin typeface="Montserrat" panose="00000500000000000000" pitchFamily="2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3C50D15-499F-D468-EFDD-3285EE535482}"/>
              </a:ext>
            </a:extLst>
          </p:cNvPr>
          <p:cNvSpPr txBox="1"/>
          <p:nvPr/>
        </p:nvSpPr>
        <p:spPr>
          <a:xfrm>
            <a:off x="5735133" y="4173905"/>
            <a:ext cx="1623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Montserrat" panose="00000500000000000000" pitchFamily="2" charset="0"/>
              </a:rPr>
              <a:t>Comparte datos sin replicarlos</a:t>
            </a:r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460583A0-6A53-77FE-6C2B-5B9E6B41CAA0}"/>
              </a:ext>
            </a:extLst>
          </p:cNvPr>
          <p:cNvCxnSpPr/>
          <p:nvPr/>
        </p:nvCxnSpPr>
        <p:spPr>
          <a:xfrm>
            <a:off x="3851920" y="2881567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19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BC3C-36E3-8030-E803-B19B20FAE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o 50">
            <a:extLst>
              <a:ext uri="{FF2B5EF4-FFF2-40B4-BE49-F238E27FC236}">
                <a16:creationId xmlns:a16="http://schemas.microsoft.com/office/drawing/2014/main" id="{9063A01B-1418-FD22-6C45-7DB2E1946184}"/>
              </a:ext>
            </a:extLst>
          </p:cNvPr>
          <p:cNvGrpSpPr/>
          <p:nvPr/>
        </p:nvGrpSpPr>
        <p:grpSpPr>
          <a:xfrm>
            <a:off x="2794239" y="1640606"/>
            <a:ext cx="3555522" cy="3288755"/>
            <a:chOff x="1464964" y="1418758"/>
            <a:chExt cx="3555522" cy="3288755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2C82169A-F1F0-2D42-BDB1-5CCF5CDDC823}"/>
                </a:ext>
              </a:extLst>
            </p:cNvPr>
            <p:cNvGrpSpPr/>
            <p:nvPr/>
          </p:nvGrpSpPr>
          <p:grpSpPr>
            <a:xfrm>
              <a:off x="1464964" y="1418758"/>
              <a:ext cx="3555522" cy="3288755"/>
              <a:chOff x="2024591" y="2156469"/>
              <a:chExt cx="3555522" cy="3288755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E7E8CA89-F468-2125-987F-52A5726EFDBF}"/>
                  </a:ext>
                </a:extLst>
              </p:cNvPr>
              <p:cNvGrpSpPr/>
              <p:nvPr/>
            </p:nvGrpSpPr>
            <p:grpSpPr>
              <a:xfrm>
                <a:off x="2024591" y="2156469"/>
                <a:ext cx="3555522" cy="3288755"/>
                <a:chOff x="2024590" y="2156469"/>
                <a:chExt cx="4117459" cy="3609555"/>
              </a:xfrm>
            </p:grpSpPr>
            <p:sp>
              <p:nvSpPr>
                <p:cNvPr id="9" name="Hexágono 8">
                  <a:extLst>
                    <a:ext uri="{FF2B5EF4-FFF2-40B4-BE49-F238E27FC236}">
                      <a16:creationId xmlns:a16="http://schemas.microsoft.com/office/drawing/2014/main" id="{344111D6-3540-2DFF-BDC2-1746F44BE677}"/>
                    </a:ext>
                  </a:extLst>
                </p:cNvPr>
                <p:cNvSpPr/>
                <p:nvPr/>
              </p:nvSpPr>
              <p:spPr>
                <a:xfrm rot="5400000">
                  <a:off x="2692040" y="2192473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" name="Hexágono 9">
                  <a:extLst>
                    <a:ext uri="{FF2B5EF4-FFF2-40B4-BE49-F238E27FC236}">
                      <a16:creationId xmlns:a16="http://schemas.microsoft.com/office/drawing/2014/main" id="{BE1E014B-14CF-E627-5D0B-DD7A4F33C278}"/>
                    </a:ext>
                  </a:extLst>
                </p:cNvPr>
                <p:cNvSpPr/>
                <p:nvPr/>
              </p:nvSpPr>
              <p:spPr>
                <a:xfrm rot="5400000">
                  <a:off x="4103950" y="219456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" name="Hexágono 10">
                  <a:extLst>
                    <a:ext uri="{FF2B5EF4-FFF2-40B4-BE49-F238E27FC236}">
                      <a16:creationId xmlns:a16="http://schemas.microsoft.com/office/drawing/2014/main" id="{315BBA82-1774-9CD5-7B5E-872DE6C15B6A}"/>
                    </a:ext>
                  </a:extLst>
                </p:cNvPr>
                <p:cNvSpPr/>
                <p:nvPr/>
              </p:nvSpPr>
              <p:spPr>
                <a:xfrm rot="5400000">
                  <a:off x="3397995" y="3307271"/>
                  <a:ext cx="1368152" cy="1296144"/>
                </a:xfrm>
                <a:prstGeom prst="hexagon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2" name="Hexágono 11">
                  <a:extLst>
                    <a:ext uri="{FF2B5EF4-FFF2-40B4-BE49-F238E27FC236}">
                      <a16:creationId xmlns:a16="http://schemas.microsoft.com/office/drawing/2014/main" id="{6E65C58A-E9FB-3F98-2A49-C3372F63F2BD}"/>
                    </a:ext>
                  </a:extLst>
                </p:cNvPr>
                <p:cNvSpPr/>
                <p:nvPr/>
              </p:nvSpPr>
              <p:spPr>
                <a:xfrm rot="5400000">
                  <a:off x="4809901" y="3303450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3" name="Hexágono 12">
                  <a:extLst>
                    <a:ext uri="{FF2B5EF4-FFF2-40B4-BE49-F238E27FC236}">
                      <a16:creationId xmlns:a16="http://schemas.microsoft.com/office/drawing/2014/main" id="{FACED57A-D795-0715-26C5-E3CCD8C9A876}"/>
                    </a:ext>
                  </a:extLst>
                </p:cNvPr>
                <p:cNvSpPr/>
                <p:nvPr/>
              </p:nvSpPr>
              <p:spPr>
                <a:xfrm rot="5400000">
                  <a:off x="1988586" y="3319078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4" name="Hexágono 13">
                  <a:extLst>
                    <a:ext uri="{FF2B5EF4-FFF2-40B4-BE49-F238E27FC236}">
                      <a16:creationId xmlns:a16="http://schemas.microsoft.com/office/drawing/2014/main" id="{07358DA5-EF1F-BA85-32CC-7529C9893684}"/>
                    </a:ext>
                  </a:extLst>
                </p:cNvPr>
                <p:cNvSpPr/>
                <p:nvPr/>
              </p:nvSpPr>
              <p:spPr>
                <a:xfrm rot="5400000">
                  <a:off x="269204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5" name="Hexágono 14">
                  <a:extLst>
                    <a:ext uri="{FF2B5EF4-FFF2-40B4-BE49-F238E27FC236}">
                      <a16:creationId xmlns:a16="http://schemas.microsoft.com/office/drawing/2014/main" id="{0961F96E-AEED-C514-125B-64579C506908}"/>
                    </a:ext>
                  </a:extLst>
                </p:cNvPr>
                <p:cNvSpPr/>
                <p:nvPr/>
              </p:nvSpPr>
              <p:spPr>
                <a:xfrm rot="5400000">
                  <a:off x="4103950" y="4433876"/>
                  <a:ext cx="1368152" cy="1296144"/>
                </a:xfrm>
                <a:prstGeom prst="hexagon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pic>
            <p:nvPicPr>
              <p:cNvPr id="24" name="Gráfico 23">
                <a:extLst>
                  <a:ext uri="{FF2B5EF4-FFF2-40B4-BE49-F238E27FC236}">
                    <a16:creationId xmlns:a16="http://schemas.microsoft.com/office/drawing/2014/main" id="{52C6D1E7-1DA3-AD7B-C7F2-165C0B49F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576927" y="3376138"/>
                <a:ext cx="451290" cy="498105"/>
              </a:xfrm>
              <a:prstGeom prst="rect">
                <a:avLst/>
              </a:prstGeom>
            </p:spPr>
          </p:pic>
          <p:pic>
            <p:nvPicPr>
              <p:cNvPr id="26" name="Imagen 25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F1F5C3B7-824F-EB61-D235-864426944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75136" y="3361205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28" name="Imagen 27" descr="Imagen que contiene Código QR&#10;&#10;El contenido generado por IA puede ser incorrecto.">
                <a:extLst>
                  <a:ext uri="{FF2B5EF4-FFF2-40B4-BE49-F238E27FC236}">
                    <a16:creationId xmlns:a16="http://schemas.microsoft.com/office/drawing/2014/main" id="{581B800D-9524-E3F3-621E-7A249791F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22838" y="4371885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30" name="Imagen 29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DA098FAE-5445-1BBF-8901-3D7729D96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13763" y="4396117"/>
                <a:ext cx="394235" cy="394235"/>
              </a:xfrm>
              <a:prstGeom prst="rect">
                <a:avLst/>
              </a:prstGeom>
            </p:spPr>
          </p:pic>
          <p:pic>
            <p:nvPicPr>
              <p:cNvPr id="34" name="Imagen 33" descr="Imagen en blanco y negro&#10;&#10;El contenido generado por IA puede ser incorrecto.">
                <a:extLst>
                  <a:ext uri="{FF2B5EF4-FFF2-40B4-BE49-F238E27FC236}">
                    <a16:creationId xmlns:a16="http://schemas.microsoft.com/office/drawing/2014/main" id="{6F7DA885-41C3-3DEC-9B0D-9A5B120341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86213" y="2347269"/>
                <a:ext cx="433659" cy="433659"/>
              </a:xfrm>
              <a:prstGeom prst="rect">
                <a:avLst/>
              </a:prstGeom>
            </p:spPr>
          </p:pic>
          <p:pic>
            <p:nvPicPr>
              <p:cNvPr id="38" name="Imagen 37" descr="Código QR&#10;&#10;El contenido generado por IA puede ser incorrecto.">
                <a:extLst>
                  <a:ext uri="{FF2B5EF4-FFF2-40B4-BE49-F238E27FC236}">
                    <a16:creationId xmlns:a16="http://schemas.microsoft.com/office/drawing/2014/main" id="{AB9B81CB-C689-9865-0C60-5D2EE8001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72367" y="2303903"/>
                <a:ext cx="477025" cy="477025"/>
              </a:xfrm>
              <a:prstGeom prst="rect">
                <a:avLst/>
              </a:prstGeom>
            </p:spPr>
          </p:pic>
          <p:pic>
            <p:nvPicPr>
              <p:cNvPr id="42" name="Imagen 41" descr="Imagen que contiene indicador, dispositivo, medidor, reloj&#10;&#10;El contenido generado por IA puede ser incorrecto.">
                <a:extLst>
                  <a:ext uri="{FF2B5EF4-FFF2-40B4-BE49-F238E27FC236}">
                    <a16:creationId xmlns:a16="http://schemas.microsoft.com/office/drawing/2014/main" id="{6C1F50C8-30CC-F6D1-6F4E-1FC1BDF87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58122" y="3267987"/>
                <a:ext cx="524728" cy="524728"/>
              </a:xfrm>
              <a:prstGeom prst="rect">
                <a:avLst/>
              </a:prstGeom>
            </p:spPr>
          </p:pic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0DAC4AF-2B68-F285-4547-7BB827144E6C}"/>
                  </a:ext>
                </a:extLst>
              </p:cNvPr>
              <p:cNvSpPr txBox="1"/>
              <p:nvPr/>
            </p:nvSpPr>
            <p:spPr>
              <a:xfrm>
                <a:off x="2780214" y="2865083"/>
                <a:ext cx="77415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Files</a:t>
                </a: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5E56079-5836-50E5-F294-CD8BA5B59F58}"/>
                  </a:ext>
                </a:extLst>
              </p:cNvPr>
              <p:cNvSpPr txBox="1"/>
              <p:nvPr/>
            </p:nvSpPr>
            <p:spPr>
              <a:xfrm>
                <a:off x="3988052" y="2857020"/>
                <a:ext cx="845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Data Tables</a:t>
                </a: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063C5DBF-808E-097C-2D1A-47B166771C69}"/>
                  </a:ext>
                </a:extLst>
              </p:cNvPr>
              <p:cNvSpPr txBox="1"/>
              <p:nvPr/>
            </p:nvSpPr>
            <p:spPr>
              <a:xfrm>
                <a:off x="2117232" y="3849964"/>
                <a:ext cx="93396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Notebooks</a:t>
                </a: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993E06B-25BF-1E69-3988-124931604130}"/>
                  </a:ext>
                </a:extLst>
              </p:cNvPr>
              <p:cNvSpPr txBox="1"/>
              <p:nvPr/>
            </p:nvSpPr>
            <p:spPr>
              <a:xfrm>
                <a:off x="3287969" y="3935123"/>
                <a:ext cx="102660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5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Marketplace</a:t>
                </a: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4EBEB5E-BBBA-5350-D4F9-1322197AD92F}"/>
                  </a:ext>
                </a:extLst>
              </p:cNvPr>
              <p:cNvSpPr txBox="1"/>
              <p:nvPr/>
            </p:nvSpPr>
            <p:spPr>
              <a:xfrm>
                <a:off x="2688660" y="4901097"/>
                <a:ext cx="1028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ML</a:t>
                </a:r>
              </a:p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Models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BD9762D-4A3C-6BAE-09DB-792FE78856EC}"/>
                  </a:ext>
                </a:extLst>
              </p:cNvPr>
              <p:cNvSpPr txBox="1"/>
              <p:nvPr/>
            </p:nvSpPr>
            <p:spPr>
              <a:xfrm>
                <a:off x="3896497" y="4901097"/>
                <a:ext cx="10287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9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Dashboards</a:t>
                </a:r>
                <a:endParaRPr lang="es-ES" sz="9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49123021-8C48-1C71-899C-877766182810}"/>
                </a:ext>
              </a:extLst>
            </p:cNvPr>
            <p:cNvSpPr txBox="1"/>
            <p:nvPr/>
          </p:nvSpPr>
          <p:spPr>
            <a:xfrm>
              <a:off x="3954127" y="3073175"/>
              <a:ext cx="102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Solution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90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Accelerators</a:t>
              </a:r>
              <a:endParaRPr lang="es-ES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CE05201-C846-DB97-B8BC-104C222315C9}"/>
              </a:ext>
            </a:extLst>
          </p:cNvPr>
          <p:cNvGrpSpPr/>
          <p:nvPr/>
        </p:nvGrpSpPr>
        <p:grpSpPr>
          <a:xfrm>
            <a:off x="6825055" y="1831406"/>
            <a:ext cx="1828348" cy="2167624"/>
            <a:chOff x="467544" y="1788040"/>
            <a:chExt cx="1828348" cy="2167624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058578B-FD62-8428-D2CD-015CAC70C49F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consumers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F1255BCB-0722-073C-A8BE-7F2CA3527859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26682931-82AC-F63B-65E3-30BA1F319DDB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Descubir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datos e IA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C7FFC05-A48E-2C4C-0423-7D9D38997371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Obtener valor desde datos más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rapido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CBF1B310-0304-31B0-91BE-9E66DF9E4DB4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entrar en red de cliente</a:t>
                </a: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12638E1-BA5B-BD27-64F7-33CD97F963F7}"/>
              </a:ext>
            </a:extLst>
          </p:cNvPr>
          <p:cNvGrpSpPr/>
          <p:nvPr/>
        </p:nvGrpSpPr>
        <p:grpSpPr>
          <a:xfrm>
            <a:off x="619944" y="1940440"/>
            <a:ext cx="1828348" cy="2167624"/>
            <a:chOff x="467544" y="1788040"/>
            <a:chExt cx="1828348" cy="2167624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8BE63270-AB92-2F89-F32D-734F5B686CBC}"/>
                </a:ext>
              </a:extLst>
            </p:cNvPr>
            <p:cNvSpPr/>
            <p:nvPr/>
          </p:nvSpPr>
          <p:spPr>
            <a:xfrm>
              <a:off x="467544" y="1788040"/>
              <a:ext cx="1800200" cy="4168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Data </a:t>
              </a:r>
              <a:r>
                <a:rPr lang="es-ES" sz="1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providers</a:t>
              </a:r>
              <a:endParaRPr lang="es-ES" sz="1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D28AEC86-8021-FF06-BD6C-ABA2AA00BA3C}"/>
                </a:ext>
              </a:extLst>
            </p:cNvPr>
            <p:cNvGrpSpPr/>
            <p:nvPr/>
          </p:nvGrpSpPr>
          <p:grpSpPr>
            <a:xfrm>
              <a:off x="467544" y="2371640"/>
              <a:ext cx="1828348" cy="1584024"/>
              <a:chOff x="467544" y="2371640"/>
              <a:chExt cx="1828348" cy="1584024"/>
            </a:xfrm>
          </p:grpSpPr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FF58879A-DAFE-A4A6-6089-72B2F0CFF4F3}"/>
                  </a:ext>
                </a:extLst>
              </p:cNvPr>
              <p:cNvSpPr/>
              <p:nvPr/>
            </p:nvSpPr>
            <p:spPr>
              <a:xfrm>
                <a:off x="467544" y="23716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Monetize</a:t>
                </a:r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 new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assets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064B13C9-5425-F84D-0DBC-3D4E15291A5F}"/>
                  </a:ext>
                </a:extLst>
              </p:cNvPr>
              <p:cNvSpPr/>
              <p:nvPr/>
            </p:nvSpPr>
            <p:spPr>
              <a:xfrm>
                <a:off x="467544" y="29552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Incrementar alcance a clientes</a:t>
                </a:r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48DC490C-D341-6EC8-6504-881E4A7CC260}"/>
                  </a:ext>
                </a:extLst>
              </p:cNvPr>
              <p:cNvSpPr/>
              <p:nvPr/>
            </p:nvSpPr>
            <p:spPr>
              <a:xfrm>
                <a:off x="495692" y="3538840"/>
                <a:ext cx="1800200" cy="4168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000" dirty="0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No requiere </a:t>
                </a:r>
                <a:r>
                  <a:rPr lang="es-ES" sz="1000" dirty="0" err="1">
                    <a:solidFill>
                      <a:schemeClr val="accent2">
                        <a:lumMod val="75000"/>
                      </a:schemeClr>
                    </a:solidFill>
                    <a:latin typeface="Montserrat" panose="00000500000000000000" pitchFamily="2" charset="0"/>
                  </a:rPr>
                  <a:t>replicacion</a:t>
                </a:r>
                <a:endParaRPr lang="es-ES" sz="1000" dirty="0">
                  <a:solidFill>
                    <a:schemeClr val="accent2">
                      <a:lumMod val="75000"/>
                    </a:schemeClr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29" name="Google Shape;303;g35ee5cc475b_0_63">
            <a:extLst>
              <a:ext uri="{FF2B5EF4-FFF2-40B4-BE49-F238E27FC236}">
                <a16:creationId xmlns:a16="http://schemas.microsoft.com/office/drawing/2014/main" id="{A7AF53A3-FA5A-9278-F949-336E93328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Data Marketplace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8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2FB7-8F54-2902-5062-2C59988B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03;g35ee5cc475b_0_63">
            <a:extLst>
              <a:ext uri="{FF2B5EF4-FFF2-40B4-BE49-F238E27FC236}">
                <a16:creationId xmlns:a16="http://schemas.microsoft.com/office/drawing/2014/main" id="{E154591F-8521-5CD9-D44C-55F037C5F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3791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2. Data </a:t>
            </a:r>
            <a:r>
              <a:rPr lang="es-ES" dirty="0" err="1">
                <a:latin typeface="Montserrat" panose="00000500000000000000" pitchFamily="2" charset="0"/>
              </a:rPr>
              <a:t>Sharing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Databricks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Clean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Rooms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BC42B31-FF81-729B-D2BA-697DD9A2944E}"/>
              </a:ext>
            </a:extLst>
          </p:cNvPr>
          <p:cNvGrpSpPr/>
          <p:nvPr/>
        </p:nvGrpSpPr>
        <p:grpSpPr>
          <a:xfrm>
            <a:off x="492743" y="1780837"/>
            <a:ext cx="1695566" cy="1616127"/>
            <a:chOff x="825863" y="1739080"/>
            <a:chExt cx="1695566" cy="161612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40D4DD21-0C68-86F7-EC61-F33ECD0B5D15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20" name="Imagen 19" descr="Forma&#10;&#10;El contenido generado por IA puede ser incorrecto.">
              <a:extLst>
                <a:ext uri="{FF2B5EF4-FFF2-40B4-BE49-F238E27FC236}">
                  <a16:creationId xmlns:a16="http://schemas.microsoft.com/office/drawing/2014/main" id="{DE89F786-31CB-A666-4D04-18D90EBCF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8115738-FC14-E030-7A65-E4208CDECDB4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1</a:t>
              </a: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BAEA572F-E1B8-B9DC-6A20-CC9AD5DE8BC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9BF1A4A2-2D72-7E77-D526-F85A148E5B67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7" name="Imagen 26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341B0C36-E2D5-ABAE-C98C-7A5D044BA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44F8794B-1BF6-B1CF-2347-813996F082C7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744830F2-A236-EEE7-3E08-F529054FEC55}"/>
              </a:ext>
            </a:extLst>
          </p:cNvPr>
          <p:cNvGrpSpPr/>
          <p:nvPr/>
        </p:nvGrpSpPr>
        <p:grpSpPr>
          <a:xfrm>
            <a:off x="3330913" y="1295070"/>
            <a:ext cx="2413313" cy="2292589"/>
            <a:chOff x="3347864" y="1280427"/>
            <a:chExt cx="2413313" cy="2292589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0A592B1-4165-9A7F-04A4-17F42DB633E5}"/>
                </a:ext>
              </a:extLst>
            </p:cNvPr>
            <p:cNvGrpSpPr/>
            <p:nvPr/>
          </p:nvGrpSpPr>
          <p:grpSpPr>
            <a:xfrm>
              <a:off x="3347864" y="1280427"/>
              <a:ext cx="2413313" cy="2292589"/>
              <a:chOff x="3347864" y="1280427"/>
              <a:chExt cx="2413313" cy="2292589"/>
            </a:xfrm>
          </p:grpSpPr>
          <p:pic>
            <p:nvPicPr>
              <p:cNvPr id="14" name="Imagen 1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ADEE907C-E045-71E8-FA0C-E0AA72DBD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37881" y="2011025"/>
                <a:ext cx="839565" cy="839565"/>
              </a:xfrm>
              <a:prstGeom prst="rect">
                <a:avLst/>
              </a:prstGeom>
            </p:spPr>
          </p:pic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A8AD8DEA-E68B-E369-9906-69D83DD32406}"/>
                  </a:ext>
                </a:extLst>
              </p:cNvPr>
              <p:cNvSpPr/>
              <p:nvPr/>
            </p:nvSpPr>
            <p:spPr>
              <a:xfrm>
                <a:off x="3347864" y="1556792"/>
                <a:ext cx="2413313" cy="201622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772FBF33-AF87-92A6-48B2-8351F0672B4E}"/>
                  </a:ext>
                </a:extLst>
              </p:cNvPr>
              <p:cNvSpPr/>
              <p:nvPr/>
            </p:nvSpPr>
            <p:spPr>
              <a:xfrm>
                <a:off x="3347864" y="1280427"/>
                <a:ext cx="2413313" cy="276365"/>
              </a:xfrm>
              <a:prstGeom prst="rect">
                <a:avLst/>
              </a:prstGeom>
              <a:solidFill>
                <a:srgbClr val="003594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900" dirty="0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D885C1FD-B96E-CE5D-29DD-7E695CA5CF3C}"/>
                </a:ext>
              </a:extLst>
            </p:cNvPr>
            <p:cNvSpPr txBox="1"/>
            <p:nvPr/>
          </p:nvSpPr>
          <p:spPr>
            <a:xfrm>
              <a:off x="3553876" y="2944517"/>
              <a:ext cx="2036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Montserrat" panose="00000500000000000000" pitchFamily="2" charset="0"/>
                </a:rPr>
                <a:t>Aprueban mutuamente tareas sobre computo fiable</a:t>
              </a:r>
            </a:p>
          </p:txBody>
        </p:sp>
      </p:grp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0F158B7C-47A0-D6C0-338A-AD3505259601}"/>
              </a:ext>
            </a:extLst>
          </p:cNvPr>
          <p:cNvSpPr/>
          <p:nvPr/>
        </p:nvSpPr>
        <p:spPr>
          <a:xfrm>
            <a:off x="323528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CE12A2B-BD2B-780E-4390-9EDA9742BA3E}"/>
              </a:ext>
            </a:extLst>
          </p:cNvPr>
          <p:cNvGrpSpPr/>
          <p:nvPr/>
        </p:nvGrpSpPr>
        <p:grpSpPr>
          <a:xfrm>
            <a:off x="323528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42" name="Rectángulo 41" hidden="1">
              <a:extLst>
                <a:ext uri="{FF2B5EF4-FFF2-40B4-BE49-F238E27FC236}">
                  <a16:creationId xmlns:a16="http://schemas.microsoft.com/office/drawing/2014/main" id="{1317716D-795B-E8B4-5DE2-785FE49DA29B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9779B4E1-DC1F-8B3D-4EBA-ADEA6D02EC49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Arbitrary</a:t>
              </a:r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Computation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C976CEF-7FC7-3689-5C87-8AB22819E2DA}"/>
              </a:ext>
            </a:extLst>
          </p:cNvPr>
          <p:cNvSpPr txBox="1"/>
          <p:nvPr/>
        </p:nvSpPr>
        <p:spPr>
          <a:xfrm>
            <a:off x="536390" y="5037903"/>
            <a:ext cx="20985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Puede correr cualquier computación en Python, SQL, R Java,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etc</a:t>
            </a:r>
            <a:endParaRPr lang="es-ES" sz="800" dirty="0">
              <a:solidFill>
                <a:schemeClr val="bg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30364413-DD10-5E15-C974-63D074079B90}"/>
              </a:ext>
            </a:extLst>
          </p:cNvPr>
          <p:cNvSpPr/>
          <p:nvPr/>
        </p:nvSpPr>
        <p:spPr>
          <a:xfrm>
            <a:off x="3349607" y="4500147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6D666E61-67AA-FE41-088E-8A6AD61E7CB9}"/>
              </a:ext>
            </a:extLst>
          </p:cNvPr>
          <p:cNvGrpSpPr/>
          <p:nvPr/>
        </p:nvGrpSpPr>
        <p:grpSpPr>
          <a:xfrm>
            <a:off x="3349607" y="4500147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1" name="Rectángulo 50" hidden="1">
              <a:extLst>
                <a:ext uri="{FF2B5EF4-FFF2-40B4-BE49-F238E27FC236}">
                  <a16:creationId xmlns:a16="http://schemas.microsoft.com/office/drawing/2014/main" id="{4060CE78-AF5A-CF3D-42F1-6840A4EC2868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E33A59A9-CD14-5EA3-C63A-CCCB748C974B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31118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No data </a:t>
              </a:r>
              <a:r>
                <a:rPr lang="es-ES" sz="1000" b="1" dirty="0" err="1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replication</a:t>
              </a:r>
              <a:endParaRPr lang="es-ES" sz="1000" b="1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endParaRPr>
            </a:p>
          </p:txBody>
        </p: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E82B43D6-B9C8-1D08-C1FC-09BD257813D9}"/>
              </a:ext>
            </a:extLst>
          </p:cNvPr>
          <p:cNvSpPr txBox="1"/>
          <p:nvPr/>
        </p:nvSpPr>
        <p:spPr>
          <a:xfrm>
            <a:off x="3562469" y="5037903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proporciona capacidades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-región o </a:t>
            </a:r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cross-cloud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sin replicar datos</a:t>
            </a: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2F10AB66-E02A-015B-163D-A886FB0ADE01}"/>
              </a:ext>
            </a:extLst>
          </p:cNvPr>
          <p:cNvSpPr/>
          <p:nvPr/>
        </p:nvSpPr>
        <p:spPr>
          <a:xfrm>
            <a:off x="6376352" y="4510064"/>
            <a:ext cx="2455384" cy="1269404"/>
          </a:xfrm>
          <a:prstGeom prst="roundRect">
            <a:avLst>
              <a:gd name="adj" fmla="val 10980"/>
            </a:avLst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8EC4AD71-DDA7-2485-5692-F5A1A2721466}"/>
              </a:ext>
            </a:extLst>
          </p:cNvPr>
          <p:cNvGrpSpPr/>
          <p:nvPr/>
        </p:nvGrpSpPr>
        <p:grpSpPr>
          <a:xfrm>
            <a:off x="6365088" y="4500710"/>
            <a:ext cx="2455384" cy="1278758"/>
            <a:chOff x="825863" y="2100564"/>
            <a:chExt cx="1695566" cy="1616127"/>
          </a:xfrm>
          <a:solidFill>
            <a:srgbClr val="8FAADC"/>
          </a:solidFill>
        </p:grpSpPr>
        <p:sp>
          <p:nvSpPr>
            <p:cNvPr id="55" name="Rectángulo 54" hidden="1">
              <a:extLst>
                <a:ext uri="{FF2B5EF4-FFF2-40B4-BE49-F238E27FC236}">
                  <a16:creationId xmlns:a16="http://schemas.microsoft.com/office/drawing/2014/main" id="{D6081A6C-4ECE-E2C9-7EA6-135C642CD6EC}"/>
                </a:ext>
              </a:extLst>
            </p:cNvPr>
            <p:cNvSpPr/>
            <p:nvPr/>
          </p:nvSpPr>
          <p:spPr>
            <a:xfrm>
              <a:off x="825863" y="2100564"/>
              <a:ext cx="1695566" cy="16161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231C3D94-712A-3D51-564F-4D34E6DD72AE}"/>
                </a:ext>
              </a:extLst>
            </p:cNvPr>
            <p:cNvSpPr txBox="1"/>
            <p:nvPr/>
          </p:nvSpPr>
          <p:spPr>
            <a:xfrm>
              <a:off x="988267" y="2240324"/>
              <a:ext cx="1345307" cy="50566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solidFill>
                    <a:schemeClr val="bg1"/>
                  </a:solidFill>
                  <a:latin typeface="Montserrat" panose="00000500000000000000" pitchFamily="2" charset="0"/>
                  <a:cs typeface="Mongolian Baiti" panose="03000500000000000000" pitchFamily="66" charset="0"/>
                </a:rPr>
                <a:t>Escalable cuando lo necesites</a:t>
              </a:r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69DD44B-A519-DBC8-42F8-A44445956369}"/>
              </a:ext>
            </a:extLst>
          </p:cNvPr>
          <p:cNvSpPr txBox="1"/>
          <p:nvPr/>
        </p:nvSpPr>
        <p:spPr>
          <a:xfrm>
            <a:off x="6577950" y="5038466"/>
            <a:ext cx="2098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 err="1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Facilmente</a:t>
            </a:r>
            <a:r>
              <a:rPr lang="es-ES" sz="800" dirty="0">
                <a:solidFill>
                  <a:schemeClr val="bg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escalable para múltiplos colaboradores en datos de cualquier tamaño</a:t>
            </a: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E0ACCCC0-5049-C3B9-8655-3242C8736A78}"/>
              </a:ext>
            </a:extLst>
          </p:cNvPr>
          <p:cNvGrpSpPr/>
          <p:nvPr/>
        </p:nvGrpSpPr>
        <p:grpSpPr>
          <a:xfrm>
            <a:off x="6957769" y="1780837"/>
            <a:ext cx="1695566" cy="1616127"/>
            <a:chOff x="825863" y="1739080"/>
            <a:chExt cx="1695566" cy="1616127"/>
          </a:xfrm>
        </p:grpSpPr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9AF52E2E-16A1-DCB6-86D0-720A60C5594C}"/>
                </a:ext>
              </a:extLst>
            </p:cNvPr>
            <p:cNvSpPr/>
            <p:nvPr/>
          </p:nvSpPr>
          <p:spPr>
            <a:xfrm>
              <a:off x="825863" y="1739080"/>
              <a:ext cx="1695566" cy="1616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60" name="Imagen 59" descr="Forma&#10;&#10;El contenido generado por IA puede ser incorrecto.">
              <a:extLst>
                <a:ext uri="{FF2B5EF4-FFF2-40B4-BE49-F238E27FC236}">
                  <a16:creationId xmlns:a16="http://schemas.microsoft.com/office/drawing/2014/main" id="{297DA65E-54D7-83A0-0E67-4A590B27D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5382" y="2198937"/>
              <a:ext cx="634921" cy="634921"/>
            </a:xfrm>
            <a:prstGeom prst="rect">
              <a:avLst/>
            </a:prstGeom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18D8F6EF-5C08-ED83-2EA1-36CC0A85F319}"/>
                </a:ext>
              </a:extLst>
            </p:cNvPr>
            <p:cNvSpPr txBox="1"/>
            <p:nvPr/>
          </p:nvSpPr>
          <p:spPr>
            <a:xfrm>
              <a:off x="1115616" y="1772816"/>
              <a:ext cx="13681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1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Collaborator</a:t>
              </a:r>
              <a:r>
                <a:rPr lang="es-ES" sz="1000" b="1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N</a:t>
              </a: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05838EC4-9DCF-B9B2-0E4E-FEDECDD92B24}"/>
                </a:ext>
              </a:extLst>
            </p:cNvPr>
            <p:cNvGrpSpPr/>
            <p:nvPr/>
          </p:nvGrpSpPr>
          <p:grpSpPr>
            <a:xfrm>
              <a:off x="1415505" y="2613733"/>
              <a:ext cx="258141" cy="192265"/>
              <a:chOff x="3706417" y="3214370"/>
              <a:chExt cx="1578768" cy="1422814"/>
            </a:xfrm>
            <a:solidFill>
              <a:srgbClr val="F2F2F2"/>
            </a:solidFill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id="{3B5841DB-D58A-05CD-2DD0-2F8DA3395CC6}"/>
                  </a:ext>
                </a:extLst>
              </p:cNvPr>
              <p:cNvSpPr/>
              <p:nvPr/>
            </p:nvSpPr>
            <p:spPr>
              <a:xfrm>
                <a:off x="3706417" y="3214370"/>
                <a:ext cx="1578768" cy="1422814"/>
              </a:xfrm>
              <a:prstGeom prst="ellipse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65" name="Imagen 64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B5D0197A-4E80-06F7-6DE9-AC8F35998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2777" y="3550535"/>
                <a:ext cx="886048" cy="750483"/>
              </a:xfrm>
              <a:prstGeom prst="rect">
                <a:avLst/>
              </a:prstGeom>
              <a:grpFill/>
            </p:spPr>
          </p:pic>
        </p:grp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3AAA915-EA07-39DF-F90C-23BC1743917B}"/>
                </a:ext>
              </a:extLst>
            </p:cNvPr>
            <p:cNvSpPr txBox="1"/>
            <p:nvPr/>
          </p:nvSpPr>
          <p:spPr>
            <a:xfrm>
              <a:off x="1025574" y="2908628"/>
              <a:ext cx="12961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" panose="00000500000000000000" pitchFamily="2" charset="0"/>
                  <a:cs typeface="Mongolian Baiti" panose="03000500000000000000" pitchFamily="66" charset="0"/>
                </a:rPr>
                <a:t>Existing</a:t>
              </a:r>
              <a:r>
                <a:rPr lang="es-ES" sz="800" dirty="0">
                  <a:latin typeface="Montserrat" panose="00000500000000000000" pitchFamily="2" charset="0"/>
                  <a:cs typeface="Mongolian Baiti" panose="03000500000000000000" pitchFamily="66" charset="0"/>
                </a:rPr>
                <a:t> Tables</a:t>
              </a:r>
            </a:p>
          </p:txBody>
        </p:sp>
      </p:grpSp>
      <p:cxnSp>
        <p:nvCxnSpPr>
          <p:cNvPr id="69" name="Conector recto de flecha 68">
            <a:extLst>
              <a:ext uri="{FF2B5EF4-FFF2-40B4-BE49-F238E27FC236}">
                <a16:creationId xmlns:a16="http://schemas.microsoft.com/office/drawing/2014/main" id="{C36017FC-3332-775D-A62E-DEED1AF96AFB}"/>
              </a:ext>
            </a:extLst>
          </p:cNvPr>
          <p:cNvCxnSpPr>
            <a:cxnSpLocks/>
            <a:stCxn id="23" idx="3"/>
            <a:endCxn id="38" idx="1"/>
          </p:cNvCxnSpPr>
          <p:nvPr/>
        </p:nvCxnSpPr>
        <p:spPr>
          <a:xfrm flipV="1">
            <a:off x="2188309" y="2579547"/>
            <a:ext cx="1142604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20901EBF-1965-D9C8-6EA7-1CDF3291D435}"/>
              </a:ext>
            </a:extLst>
          </p:cNvPr>
          <p:cNvCxnSpPr>
            <a:cxnSpLocks/>
            <a:stCxn id="59" idx="1"/>
            <a:endCxn id="38" idx="3"/>
          </p:cNvCxnSpPr>
          <p:nvPr/>
        </p:nvCxnSpPr>
        <p:spPr>
          <a:xfrm flipH="1" flipV="1">
            <a:off x="5744226" y="2579547"/>
            <a:ext cx="1213543" cy="9354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Imagen 73" descr="Icono&#10;&#10;El contenido generado por IA puede ser incorrecto.">
            <a:extLst>
              <a:ext uri="{FF2B5EF4-FFF2-40B4-BE49-F238E27FC236}">
                <a16:creationId xmlns:a16="http://schemas.microsoft.com/office/drawing/2014/main" id="{BA801A94-EC9E-CCE1-B1CC-B2667759D1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469" y="2300774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pic>
        <p:nvPicPr>
          <p:cNvPr id="75" name="Imagen 74" descr="Icono&#10;&#10;El contenido generado por IA puede ser incorrecto.">
            <a:extLst>
              <a:ext uri="{FF2B5EF4-FFF2-40B4-BE49-F238E27FC236}">
                <a16:creationId xmlns:a16="http://schemas.microsoft.com/office/drawing/2014/main" id="{F67BC969-4B62-0844-F269-56B52A9D89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65" y="2298874"/>
            <a:ext cx="282322" cy="197625"/>
          </a:xfrm>
          <a:prstGeom prst="rect">
            <a:avLst/>
          </a:prstGeom>
          <a:solidFill>
            <a:srgbClr val="F2F2F2"/>
          </a:solidFill>
        </p:spPr>
      </p:pic>
      <p:sp>
        <p:nvSpPr>
          <p:cNvPr id="76" name="CuadroTexto 75">
            <a:extLst>
              <a:ext uri="{FF2B5EF4-FFF2-40B4-BE49-F238E27FC236}">
                <a16:creationId xmlns:a16="http://schemas.microsoft.com/office/drawing/2014/main" id="{5EF60536-4BAB-E540-5228-3639DF56B05F}"/>
              </a:ext>
            </a:extLst>
          </p:cNvPr>
          <p:cNvSpPr txBox="1"/>
          <p:nvPr/>
        </p:nvSpPr>
        <p:spPr>
          <a:xfrm>
            <a:off x="2328721" y="2603580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C120651E-D33E-32F2-3D45-8D89435ED0F1}"/>
              </a:ext>
            </a:extLst>
          </p:cNvPr>
          <p:cNvSpPr txBox="1"/>
          <p:nvPr/>
        </p:nvSpPr>
        <p:spPr>
          <a:xfrm>
            <a:off x="6072692" y="2605537"/>
            <a:ext cx="885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  <a:cs typeface="Mongolian Baiti" panose="03000500000000000000" pitchFamily="66" charset="0"/>
              </a:rPr>
              <a:t>Delta </a:t>
            </a:r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Sharing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  <a:p>
            <a:r>
              <a:rPr lang="es-ES" sz="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Protocol</a:t>
            </a:r>
            <a:endParaRPr lang="es-ES" sz="800" dirty="0"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8656305-A9AD-4DC4-C872-8E01A89369A2}"/>
              </a:ext>
            </a:extLst>
          </p:cNvPr>
          <p:cNvSpPr txBox="1"/>
          <p:nvPr/>
        </p:nvSpPr>
        <p:spPr>
          <a:xfrm>
            <a:off x="3506277" y="1303470"/>
            <a:ext cx="2380035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50" dirty="0">
                <a:solidFill>
                  <a:schemeClr val="bg1"/>
                </a:solidFill>
                <a:latin typeface="Montserrat" panose="00000500000000000000" pitchFamily="2" charset="0"/>
              </a:rPr>
              <a:t>DATABRICKS TRUSTED COMPUTE</a:t>
            </a:r>
          </a:p>
          <a:p>
            <a:endParaRPr lang="es-ES" sz="1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E70B691-60CD-017A-C0F3-5D45BE3E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6014" y="1324726"/>
            <a:ext cx="173992" cy="192041"/>
          </a:xfrm>
          <a:prstGeom prst="rect">
            <a:avLst/>
          </a:prstGeom>
        </p:spPr>
      </p:pic>
      <p:pic>
        <p:nvPicPr>
          <p:cNvPr id="87" name="Imagen 86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160BDDE0-8732-DC9C-15C8-D7FCFE910E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40" y="3410265"/>
            <a:ext cx="269268" cy="269268"/>
          </a:xfrm>
          <a:prstGeom prst="rect">
            <a:avLst/>
          </a:prstGeom>
        </p:spPr>
      </p:pic>
      <p:pic>
        <p:nvPicPr>
          <p:cNvPr id="89" name="Imagen 88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5E02A466-3BA1-FBCE-0845-FCC5A710A4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8" y="3442230"/>
            <a:ext cx="269268" cy="269268"/>
          </a:xfrm>
          <a:prstGeom prst="rect">
            <a:avLst/>
          </a:prstGeom>
        </p:spPr>
      </p:pic>
      <p:pic>
        <p:nvPicPr>
          <p:cNvPr id="91" name="Imagen 90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A9D740CF-EC97-5869-F250-F3942A7F06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413371"/>
            <a:ext cx="269268" cy="269268"/>
          </a:xfrm>
          <a:prstGeom prst="rect">
            <a:avLst/>
          </a:prstGeom>
        </p:spPr>
      </p:pic>
      <p:pic>
        <p:nvPicPr>
          <p:cNvPr id="92" name="Imagen 91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F52A6399-4998-A901-22E0-FF838DB82E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215" y="3418769"/>
            <a:ext cx="269268" cy="269268"/>
          </a:xfrm>
          <a:prstGeom prst="rect">
            <a:avLst/>
          </a:prstGeom>
        </p:spPr>
      </p:pic>
      <p:pic>
        <p:nvPicPr>
          <p:cNvPr id="93" name="Imagen 92" descr="Un dibujo de un perro&#10;&#10;El contenido generado por IA puede ser incorrecto.">
            <a:extLst>
              <a:ext uri="{FF2B5EF4-FFF2-40B4-BE49-F238E27FC236}">
                <a16:creationId xmlns:a16="http://schemas.microsoft.com/office/drawing/2014/main" id="{67DB7164-69F4-3041-4157-CE524A293B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873" y="3450734"/>
            <a:ext cx="269268" cy="269268"/>
          </a:xfrm>
          <a:prstGeom prst="rect">
            <a:avLst/>
          </a:prstGeom>
        </p:spPr>
      </p:pic>
      <p:pic>
        <p:nvPicPr>
          <p:cNvPr id="94" name="Imagen 93" descr="Imagen que contiene reloj, dibujo, señal&#10;&#10;El contenido generado por IA puede ser incorrecto.">
            <a:extLst>
              <a:ext uri="{FF2B5EF4-FFF2-40B4-BE49-F238E27FC236}">
                <a16:creationId xmlns:a16="http://schemas.microsoft.com/office/drawing/2014/main" id="{74CA6656-1590-2B56-15E1-C0636B76A1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531" y="3421875"/>
            <a:ext cx="269268" cy="26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7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917FA-CE79-3F15-B8C7-E3BF9916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66367CE-915E-9E4F-C528-C5E59C30D2DC}"/>
              </a:ext>
            </a:extLst>
          </p:cNvPr>
          <p:cNvSpPr txBox="1"/>
          <p:nvPr/>
        </p:nvSpPr>
        <p:spPr>
          <a:xfrm>
            <a:off x="2483768" y="2537901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647552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7131BDE9-3002-385C-8BFC-EBF7C521FB7C}"/>
              </a:ext>
            </a:extLst>
          </p:cNvPr>
          <p:cNvGrpSpPr/>
          <p:nvPr/>
        </p:nvGrpSpPr>
        <p:grpSpPr>
          <a:xfrm>
            <a:off x="120409" y="1960810"/>
            <a:ext cx="1047764" cy="2432430"/>
            <a:chOff x="1331640" y="1700808"/>
            <a:chExt cx="1152540" cy="2943240"/>
          </a:xfrm>
          <a:solidFill>
            <a:schemeClr val="bg1">
              <a:lumMod val="95000"/>
            </a:schemeClr>
          </a:solidFill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C5D09393-82B0-C4EE-7BD3-5A329A5742D1}"/>
                </a:ext>
              </a:extLst>
            </p:cNvPr>
            <p:cNvSpPr/>
            <p:nvPr/>
          </p:nvSpPr>
          <p:spPr>
            <a:xfrm>
              <a:off x="1331640" y="170080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Billing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Usage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1BBB465-BDA1-752E-3869-DEE2235DFFB7}"/>
                </a:ext>
              </a:extLst>
            </p:cNvPr>
            <p:cNvSpPr/>
            <p:nvPr/>
          </p:nvSpPr>
          <p:spPr>
            <a:xfrm>
              <a:off x="1331640" y="2204864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Lineage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B916EC3-70AE-56D1-3397-CC2FED751B91}"/>
                </a:ext>
              </a:extLst>
            </p:cNvPr>
            <p:cNvSpPr/>
            <p:nvPr/>
          </p:nvSpPr>
          <p:spPr>
            <a:xfrm>
              <a:off x="1332052" y="2706648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Audit Logs</a:t>
              </a:r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01AB1E71-3B3A-637D-BC45-41BFE2A88ACA}"/>
                </a:ext>
              </a:extLst>
            </p:cNvPr>
            <p:cNvSpPr/>
            <p:nvPr/>
          </p:nvSpPr>
          <p:spPr>
            <a:xfrm>
              <a:off x="1331640" y="3208432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Clusters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3643A44-8F1D-78C4-4C1E-31FCDAC09927}"/>
                </a:ext>
              </a:extLst>
            </p:cNvPr>
            <p:cNvSpPr/>
            <p:nvPr/>
          </p:nvSpPr>
          <p:spPr>
            <a:xfrm>
              <a:off x="1331640" y="3710216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Predictive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Optimization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04587462-F092-CA16-C926-44FA29A349F4}"/>
                </a:ext>
              </a:extLst>
            </p:cNvPr>
            <p:cNvSpPr/>
            <p:nvPr/>
          </p:nvSpPr>
          <p:spPr>
            <a:xfrm>
              <a:off x="1331640" y="4212000"/>
              <a:ext cx="1152128" cy="432048"/>
            </a:xfrm>
            <a:prstGeom prst="round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…</a:t>
              </a:r>
            </a:p>
          </p:txBody>
        </p:sp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93974BF-0B12-8B0A-B61C-4D58AE757F96}"/>
              </a:ext>
            </a:extLst>
          </p:cNvPr>
          <p:cNvSpPr/>
          <p:nvPr/>
        </p:nvSpPr>
        <p:spPr>
          <a:xfrm>
            <a:off x="1735763" y="2602798"/>
            <a:ext cx="1109848" cy="10830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Lakehouse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Pipeline</a:t>
            </a:r>
          </a:p>
          <a:p>
            <a:pPr algn="ctr"/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Infrastructure</a:t>
            </a:r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endParaRPr lang="es-ES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(run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by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 </a:t>
            </a:r>
            <a:r>
              <a:rPr lang="es-ES" sz="800" dirty="0" err="1">
                <a:solidFill>
                  <a:schemeClr val="tx1"/>
                </a:solidFill>
                <a:latin typeface="Montserrat" panose="00000500000000000000" pitchFamily="2" charset="0"/>
              </a:rPr>
              <a:t>Databricks</a:t>
            </a:r>
            <a:r>
              <a:rPr lang="es-ES" sz="800" dirty="0">
                <a:solidFill>
                  <a:schemeClr val="tx1"/>
                </a:solidFill>
                <a:latin typeface="Montserrat" panose="00000500000000000000" pitchFamily="2" charset="0"/>
              </a:rPr>
              <a:t>)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6DF4273-6D7B-1BDE-861A-A3DB9D352BF0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1167798" y="2139342"/>
            <a:ext cx="567965" cy="100499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0">
            <a:extLst>
              <a:ext uri="{FF2B5EF4-FFF2-40B4-BE49-F238E27FC236}">
                <a16:creationId xmlns:a16="http://schemas.microsoft.com/office/drawing/2014/main" id="{362D27B3-471E-8879-4A08-681B9433FA79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1167798" y="2555917"/>
            <a:ext cx="567965" cy="588424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0">
            <a:extLst>
              <a:ext uri="{FF2B5EF4-FFF2-40B4-BE49-F238E27FC236}">
                <a16:creationId xmlns:a16="http://schemas.microsoft.com/office/drawing/2014/main" id="{927BDA1B-46F3-6E20-5782-7BA65495C22E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1168173" y="2970615"/>
            <a:ext cx="567590" cy="173726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0">
            <a:extLst>
              <a:ext uri="{FF2B5EF4-FFF2-40B4-BE49-F238E27FC236}">
                <a16:creationId xmlns:a16="http://schemas.microsoft.com/office/drawing/2014/main" id="{E98435C7-A122-FCA3-FB80-C41F9BE9E0DD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 flipV="1">
            <a:off x="1167798" y="3144341"/>
            <a:ext cx="567965" cy="24097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20">
            <a:extLst>
              <a:ext uri="{FF2B5EF4-FFF2-40B4-BE49-F238E27FC236}">
                <a16:creationId xmlns:a16="http://schemas.microsoft.com/office/drawing/2014/main" id="{C743EC0C-4B16-E0C1-0E83-2C3D7FC41E67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 flipV="1">
            <a:off x="1167798" y="3144341"/>
            <a:ext cx="567965" cy="65566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20">
            <a:extLst>
              <a:ext uri="{FF2B5EF4-FFF2-40B4-BE49-F238E27FC236}">
                <a16:creationId xmlns:a16="http://schemas.microsoft.com/office/drawing/2014/main" id="{F5522E2E-93E2-5299-DF4B-E11DAE834A69}"/>
              </a:ext>
            </a:extLst>
          </p:cNvPr>
          <p:cNvCxnSpPr>
            <a:cxnSpLocks/>
            <a:stCxn id="12" idx="3"/>
            <a:endCxn id="19" idx="1"/>
          </p:cNvCxnSpPr>
          <p:nvPr/>
        </p:nvCxnSpPr>
        <p:spPr>
          <a:xfrm flipV="1">
            <a:off x="1167798" y="3144341"/>
            <a:ext cx="567965" cy="1070367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angular 69">
            <a:extLst>
              <a:ext uri="{FF2B5EF4-FFF2-40B4-BE49-F238E27FC236}">
                <a16:creationId xmlns:a16="http://schemas.microsoft.com/office/drawing/2014/main" id="{33FB355C-9B21-36B5-4968-2639CF2BB69A}"/>
              </a:ext>
            </a:extLst>
          </p:cNvPr>
          <p:cNvCxnSpPr>
            <a:cxnSpLocks/>
            <a:stCxn id="43" idx="2"/>
            <a:endCxn id="44" idx="1"/>
          </p:cNvCxnSpPr>
          <p:nvPr/>
        </p:nvCxnSpPr>
        <p:spPr>
          <a:xfrm rot="16200000" flipH="1">
            <a:off x="4623811" y="2832140"/>
            <a:ext cx="178824" cy="230965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Google Shape;303;g35ee5cc475b_0_63">
            <a:extLst>
              <a:ext uri="{FF2B5EF4-FFF2-40B4-BE49-F238E27FC236}">
                <a16:creationId xmlns:a16="http://schemas.microsoft.com/office/drawing/2014/main" id="{94988496-8304-DB20-489A-278826FDF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dirty="0">
                <a:latin typeface="Montserrat" panose="00000500000000000000" pitchFamily="2" charset="0"/>
              </a:rPr>
              <a:t>3.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517F646C-1991-AEAA-F6F0-B048AEDFE8B3}"/>
              </a:ext>
            </a:extLst>
          </p:cNvPr>
          <p:cNvCxnSpPr>
            <a:cxnSpLocks/>
            <a:stCxn id="19" idx="3"/>
            <a:endCxn id="38" idx="1"/>
          </p:cNvCxnSpPr>
          <p:nvPr/>
        </p:nvCxnSpPr>
        <p:spPr>
          <a:xfrm flipV="1">
            <a:off x="2845611" y="3144340"/>
            <a:ext cx="278609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913A6FA5-922D-897A-9E57-71A4F0BC8AF1}"/>
              </a:ext>
            </a:extLst>
          </p:cNvPr>
          <p:cNvGrpSpPr/>
          <p:nvPr/>
        </p:nvGrpSpPr>
        <p:grpSpPr>
          <a:xfrm>
            <a:off x="3124220" y="1294951"/>
            <a:ext cx="2880319" cy="3698778"/>
            <a:chOff x="3222335" y="1294951"/>
            <a:chExt cx="2880319" cy="3698778"/>
          </a:xfrm>
        </p:grpSpPr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9F9219A4-F94C-BF83-A610-12FC36806ECA}"/>
                </a:ext>
              </a:extLst>
            </p:cNvPr>
            <p:cNvGrpSpPr/>
            <p:nvPr/>
          </p:nvGrpSpPr>
          <p:grpSpPr>
            <a:xfrm>
              <a:off x="3222335" y="1294951"/>
              <a:ext cx="2880319" cy="3698778"/>
              <a:chOff x="3923928" y="1559703"/>
              <a:chExt cx="2880319" cy="3698778"/>
            </a:xfrm>
          </p:grpSpPr>
          <p:sp>
            <p:nvSpPr>
              <p:cNvPr id="38" name="Rectángulo: esquinas redondeadas 37">
                <a:extLst>
                  <a:ext uri="{FF2B5EF4-FFF2-40B4-BE49-F238E27FC236}">
                    <a16:creationId xmlns:a16="http://schemas.microsoft.com/office/drawing/2014/main" id="{FF81977D-A9B6-7240-C644-1FC9841EF643}"/>
                  </a:ext>
                </a:extLst>
              </p:cNvPr>
              <p:cNvSpPr/>
              <p:nvPr/>
            </p:nvSpPr>
            <p:spPr>
              <a:xfrm>
                <a:off x="3923928" y="1559703"/>
                <a:ext cx="2880319" cy="3698778"/>
              </a:xfrm>
              <a:prstGeom prst="roundRect">
                <a:avLst>
                  <a:gd name="adj" fmla="val 8100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System</a:t>
                </a:r>
                <a:r>
                  <a:rPr lang="es-ES" sz="800" b="1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Tables</a:t>
                </a:r>
              </a:p>
            </p:txBody>
          </p:sp>
          <p:sp>
            <p:nvSpPr>
              <p:cNvPr id="39" name="Rectángulo: esquinas redondeadas 38">
                <a:extLst>
                  <a:ext uri="{FF2B5EF4-FFF2-40B4-BE49-F238E27FC236}">
                    <a16:creationId xmlns:a16="http://schemas.microsoft.com/office/drawing/2014/main" id="{96DE27CA-0520-A3AE-8956-198A57B68296}"/>
                  </a:ext>
                </a:extLst>
              </p:cNvPr>
              <p:cNvSpPr/>
              <p:nvPr/>
            </p:nvSpPr>
            <p:spPr>
              <a:xfrm>
                <a:off x="3995936" y="1893553"/>
                <a:ext cx="2736304" cy="2903600"/>
              </a:xfrm>
              <a:prstGeom prst="roundRect">
                <a:avLst>
                  <a:gd name="adj" fmla="val 193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UC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Metastore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Rectángulo: esquinas redondeadas 39">
                <a:extLst>
                  <a:ext uri="{FF2B5EF4-FFF2-40B4-BE49-F238E27FC236}">
                    <a16:creationId xmlns:a16="http://schemas.microsoft.com/office/drawing/2014/main" id="{843996FB-86B9-9B1F-20B8-6796E99D7442}"/>
                  </a:ext>
                </a:extLst>
              </p:cNvPr>
              <p:cNvSpPr/>
              <p:nvPr/>
            </p:nvSpPr>
            <p:spPr>
              <a:xfrm>
                <a:off x="4080343" y="2120571"/>
                <a:ext cx="805515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system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EBEFED92-54C4-A50E-20FC-0EA00385AADD}"/>
                  </a:ext>
                </a:extLst>
              </p:cNvPr>
              <p:cNvSpPr/>
              <p:nvPr/>
            </p:nvSpPr>
            <p:spPr>
              <a:xfrm>
                <a:off x="4647041" y="2389509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access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Rectángulo: esquinas redondeadas 41">
                <a:extLst>
                  <a:ext uri="{FF2B5EF4-FFF2-40B4-BE49-F238E27FC236}">
                    <a16:creationId xmlns:a16="http://schemas.microsoft.com/office/drawing/2014/main" id="{B930C497-3A2B-5DDD-7B27-98F14F640E9E}"/>
                  </a:ext>
                </a:extLst>
              </p:cNvPr>
              <p:cNvSpPr/>
              <p:nvPr/>
            </p:nvSpPr>
            <p:spPr>
              <a:xfrm>
                <a:off x="5628414" y="2664797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audit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Rectángulo: esquinas redondeadas 42">
                <a:extLst>
                  <a:ext uri="{FF2B5EF4-FFF2-40B4-BE49-F238E27FC236}">
                    <a16:creationId xmlns:a16="http://schemas.microsoft.com/office/drawing/2014/main" id="{7F582F83-B136-C0ED-DA3D-DB79562E9945}"/>
                  </a:ext>
                </a:extLst>
              </p:cNvPr>
              <p:cNvSpPr/>
              <p:nvPr/>
            </p:nvSpPr>
            <p:spPr>
              <a:xfrm>
                <a:off x="4647041" y="2930034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billing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A1E12A80-7BF6-3689-3ED8-3DD901869A1A}"/>
                  </a:ext>
                </a:extLst>
              </p:cNvPr>
              <p:cNvSpPr/>
              <p:nvPr/>
            </p:nvSpPr>
            <p:spPr>
              <a:xfrm>
                <a:off x="5628414" y="3205322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usage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Rectángulo: esquinas redondeadas 44">
                <a:extLst>
                  <a:ext uri="{FF2B5EF4-FFF2-40B4-BE49-F238E27FC236}">
                    <a16:creationId xmlns:a16="http://schemas.microsoft.com/office/drawing/2014/main" id="{5B6AEDAA-0878-BF95-CFB8-BC8674768475}"/>
                  </a:ext>
                </a:extLst>
              </p:cNvPr>
              <p:cNvSpPr/>
              <p:nvPr/>
            </p:nvSpPr>
            <p:spPr>
              <a:xfrm>
                <a:off x="4651109" y="3472593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9D2073FA-8E33-D2BC-8CFD-362C7BB12643}"/>
                  </a:ext>
                </a:extLst>
              </p:cNvPr>
              <p:cNvSpPr/>
              <p:nvPr/>
            </p:nvSpPr>
            <p:spPr>
              <a:xfrm>
                <a:off x="5632482" y="3747881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column</a:t>
                </a:r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Rectángulo: esquinas redondeadas 46">
                <a:extLst>
                  <a:ext uri="{FF2B5EF4-FFF2-40B4-BE49-F238E27FC236}">
                    <a16:creationId xmlns:a16="http://schemas.microsoft.com/office/drawing/2014/main" id="{0AD936C6-4BF9-E240-3D86-75DE95BD2DE5}"/>
                  </a:ext>
                </a:extLst>
              </p:cNvPr>
              <p:cNvSpPr/>
              <p:nvPr/>
            </p:nvSpPr>
            <p:spPr>
              <a:xfrm>
                <a:off x="5628414" y="4007140"/>
                <a:ext cx="1047389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table </a:t>
                </a:r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lineage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B1EF0CDC-6D4C-5005-1344-A5953803B4BA}"/>
                  </a:ext>
                </a:extLst>
              </p:cNvPr>
              <p:cNvSpPr/>
              <p:nvPr/>
            </p:nvSpPr>
            <p:spPr>
              <a:xfrm>
                <a:off x="4733590" y="4279696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…</a:t>
                </a:r>
              </a:p>
            </p:txBody>
          </p:sp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2BC0C46C-90AB-7467-6BD5-78FF19C6F6D4}"/>
                  </a:ext>
                </a:extLst>
              </p:cNvPr>
              <p:cNvSpPr/>
              <p:nvPr/>
            </p:nvSpPr>
            <p:spPr>
              <a:xfrm>
                <a:off x="4755248" y="4545015"/>
                <a:ext cx="1500816" cy="1929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8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Information_schema</a:t>
                </a:r>
                <a:endParaRPr lang="es-ES" sz="8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cxnSp>
            <p:nvCxnSpPr>
              <p:cNvPr id="53" name="Conector: angular 52">
                <a:extLst>
                  <a:ext uri="{FF2B5EF4-FFF2-40B4-BE49-F238E27FC236}">
                    <a16:creationId xmlns:a16="http://schemas.microsoft.com/office/drawing/2014/main" id="{B4A9E6F0-E2AB-D639-B9D0-D3AC8C876103}"/>
                  </a:ext>
                </a:extLst>
              </p:cNvPr>
              <p:cNvCxnSpPr>
                <a:stCxn id="40" idx="2"/>
                <a:endCxn id="49" idx="1"/>
              </p:cNvCxnSpPr>
              <p:nvPr/>
            </p:nvCxnSpPr>
            <p:spPr>
              <a:xfrm rot="16200000" flipH="1">
                <a:off x="3455184" y="3341416"/>
                <a:ext cx="2327980" cy="27214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: angular 53">
                <a:extLst>
                  <a:ext uri="{FF2B5EF4-FFF2-40B4-BE49-F238E27FC236}">
                    <a16:creationId xmlns:a16="http://schemas.microsoft.com/office/drawing/2014/main" id="{30EF4928-BA55-84ED-840F-2BE90C381075}"/>
                  </a:ext>
                </a:extLst>
              </p:cNvPr>
              <p:cNvCxnSpPr>
                <a:cxnSpLocks/>
                <a:endCxn id="48" idx="1"/>
              </p:cNvCxnSpPr>
              <p:nvPr/>
            </p:nvCxnSpPr>
            <p:spPr>
              <a:xfrm rot="16200000" flipH="1">
                <a:off x="3608957" y="3251528"/>
                <a:ext cx="1998776" cy="250490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: angular 56">
                <a:extLst>
                  <a:ext uri="{FF2B5EF4-FFF2-40B4-BE49-F238E27FC236}">
                    <a16:creationId xmlns:a16="http://schemas.microsoft.com/office/drawing/2014/main" id="{CDF58035-D50A-97C4-F9DD-EE8D2853E5E1}"/>
                  </a:ext>
                </a:extLst>
              </p:cNvPr>
              <p:cNvCxnSpPr>
                <a:cxnSpLocks/>
                <a:stCxn id="40" idx="2"/>
                <a:endCxn id="45" idx="1"/>
              </p:cNvCxnSpPr>
              <p:nvPr/>
            </p:nvCxnSpPr>
            <p:spPr>
              <a:xfrm rot="16200000" flipH="1">
                <a:off x="3939326" y="2857275"/>
                <a:ext cx="1255558" cy="168008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: angular 59">
                <a:extLst>
                  <a:ext uri="{FF2B5EF4-FFF2-40B4-BE49-F238E27FC236}">
                    <a16:creationId xmlns:a16="http://schemas.microsoft.com/office/drawing/2014/main" id="{F9DB5793-166B-4DCF-8B1F-26D18FBB7F66}"/>
                  </a:ext>
                </a:extLst>
              </p:cNvPr>
              <p:cNvCxnSpPr>
                <a:cxnSpLocks/>
                <a:endCxn id="43" idx="1"/>
              </p:cNvCxnSpPr>
              <p:nvPr/>
            </p:nvCxnSpPr>
            <p:spPr>
              <a:xfrm rot="16200000" flipH="1">
                <a:off x="4214632" y="2594090"/>
                <a:ext cx="700876" cy="163942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: angular 62">
                <a:extLst>
                  <a:ext uri="{FF2B5EF4-FFF2-40B4-BE49-F238E27FC236}">
                    <a16:creationId xmlns:a16="http://schemas.microsoft.com/office/drawing/2014/main" id="{5EBA256F-2A62-11F5-BE59-950D856AA5F0}"/>
                  </a:ext>
                </a:extLst>
              </p:cNvPr>
              <p:cNvCxnSpPr>
                <a:cxnSpLocks/>
                <a:endCxn id="41" idx="1"/>
              </p:cNvCxnSpPr>
              <p:nvPr/>
            </p:nvCxnSpPr>
            <p:spPr>
              <a:xfrm>
                <a:off x="4483099" y="2325621"/>
                <a:ext cx="163942" cy="160353"/>
              </a:xfrm>
              <a:prstGeom prst="bentConnector3">
                <a:avLst>
                  <a:gd name="adj1" fmla="val -4226"/>
                </a:avLst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: angular 66">
                <a:extLst>
                  <a:ext uri="{FF2B5EF4-FFF2-40B4-BE49-F238E27FC236}">
                    <a16:creationId xmlns:a16="http://schemas.microsoft.com/office/drawing/2014/main" id="{E34F4DEE-DA5C-246D-3DE3-49A26B6722CF}"/>
                  </a:ext>
                </a:extLst>
              </p:cNvPr>
              <p:cNvCxnSpPr>
                <a:cxnSpLocks/>
                <a:stCxn id="41" idx="2"/>
                <a:endCxn id="42" idx="1"/>
              </p:cNvCxnSpPr>
              <p:nvPr/>
            </p:nvCxnSpPr>
            <p:spPr>
              <a:xfrm rot="16200000" flipH="1">
                <a:off x="5423519" y="2556367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: angular 73">
                <a:extLst>
                  <a:ext uri="{FF2B5EF4-FFF2-40B4-BE49-F238E27FC236}">
                    <a16:creationId xmlns:a16="http://schemas.microsoft.com/office/drawing/2014/main" id="{2E9CC750-D922-302D-E5E7-8D5AAA16D99E}"/>
                  </a:ext>
                </a:extLst>
              </p:cNvPr>
              <p:cNvCxnSpPr>
                <a:cxnSpLocks/>
                <a:stCxn id="45" idx="2"/>
                <a:endCxn id="46" idx="1"/>
              </p:cNvCxnSpPr>
              <p:nvPr/>
            </p:nvCxnSpPr>
            <p:spPr>
              <a:xfrm rot="16200000" flipH="1">
                <a:off x="5427587" y="3639451"/>
                <a:ext cx="178824" cy="230965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: angular 77">
                <a:extLst>
                  <a:ext uri="{FF2B5EF4-FFF2-40B4-BE49-F238E27FC236}">
                    <a16:creationId xmlns:a16="http://schemas.microsoft.com/office/drawing/2014/main" id="{3D3513A1-3107-D0F5-3C27-C7B9882B2ADD}"/>
                  </a:ext>
                </a:extLst>
              </p:cNvPr>
              <p:cNvCxnSpPr>
                <a:cxnSpLocks/>
                <a:stCxn id="45" idx="2"/>
                <a:endCxn id="47" idx="1"/>
              </p:cNvCxnSpPr>
              <p:nvPr/>
            </p:nvCxnSpPr>
            <p:spPr>
              <a:xfrm rot="16200000" flipH="1">
                <a:off x="5295924" y="3771114"/>
                <a:ext cx="438083" cy="226897"/>
              </a:xfrm>
              <a:prstGeom prst="bentConnector2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ángulo: esquinas redondeadas 91">
              <a:extLst>
                <a:ext uri="{FF2B5EF4-FFF2-40B4-BE49-F238E27FC236}">
                  <a16:creationId xmlns:a16="http://schemas.microsoft.com/office/drawing/2014/main" id="{2E795C17-092F-67C4-6544-1235D36CD475}"/>
                </a:ext>
              </a:extLst>
            </p:cNvPr>
            <p:cNvSpPr/>
            <p:nvPr/>
          </p:nvSpPr>
          <p:spPr>
            <a:xfrm>
              <a:off x="3294343" y="4574981"/>
              <a:ext cx="2736304" cy="314133"/>
            </a:xfrm>
            <a:prstGeom prst="roundRect">
              <a:avLst>
                <a:gd name="adj" fmla="val 1891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Delta Tables</a:t>
              </a:r>
            </a:p>
            <a:p>
              <a:pPr algn="ctr"/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(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stored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in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6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account</a:t>
              </a:r>
              <a:r>
                <a:rPr lang="es-ES" sz="6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)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93" name="Imagen 92" descr="Icono&#10;&#10;El contenido generado por IA puede ser incorrecto.">
              <a:extLst>
                <a:ext uri="{FF2B5EF4-FFF2-40B4-BE49-F238E27FC236}">
                  <a16:creationId xmlns:a16="http://schemas.microsoft.com/office/drawing/2014/main" id="{870039A8-0EB2-793B-5BF0-A8556CF6A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8750" y="4643250"/>
              <a:ext cx="209673" cy="177593"/>
            </a:xfrm>
            <a:prstGeom prst="rect">
              <a:avLst/>
            </a:prstGeom>
            <a:solidFill>
              <a:srgbClr val="F2F2F2"/>
            </a:solidFill>
          </p:spPr>
        </p:pic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EBDFDE5E-A920-3070-BFEB-87B1AFD3660E}"/>
              </a:ext>
            </a:extLst>
          </p:cNvPr>
          <p:cNvGrpSpPr/>
          <p:nvPr/>
        </p:nvGrpSpPr>
        <p:grpSpPr>
          <a:xfrm>
            <a:off x="6444208" y="2114285"/>
            <a:ext cx="892416" cy="2192797"/>
            <a:chOff x="6847936" y="1291772"/>
            <a:chExt cx="892416" cy="2192797"/>
          </a:xfrm>
        </p:grpSpPr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FF704EF1-32A8-9F48-1CEE-E0354582D068}"/>
                </a:ext>
              </a:extLst>
            </p:cNvPr>
            <p:cNvSpPr/>
            <p:nvPr/>
          </p:nvSpPr>
          <p:spPr>
            <a:xfrm>
              <a:off x="6847936" y="1291772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Lakehouse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AI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or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BI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5" name="Rectángulo: esquinas redondeadas 94">
              <a:extLst>
                <a:ext uri="{FF2B5EF4-FFF2-40B4-BE49-F238E27FC236}">
                  <a16:creationId xmlns:a16="http://schemas.microsoft.com/office/drawing/2014/main" id="{7BD9BA66-FCC8-05D7-3D71-BDFA391618EB}"/>
                </a:ext>
              </a:extLst>
            </p:cNvPr>
            <p:cNvSpPr/>
            <p:nvPr/>
          </p:nvSpPr>
          <p:spPr>
            <a:xfrm>
              <a:off x="6847936" y="1865644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Dashboards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6" name="Rectángulo: esquinas redondeadas 95">
              <a:extLst>
                <a:ext uri="{FF2B5EF4-FFF2-40B4-BE49-F238E27FC236}">
                  <a16:creationId xmlns:a16="http://schemas.microsoft.com/office/drawing/2014/main" id="{6C584A4B-055C-F95B-0478-32BB849B330F}"/>
                </a:ext>
              </a:extLst>
            </p:cNvPr>
            <p:cNvSpPr/>
            <p:nvPr/>
          </p:nvSpPr>
          <p:spPr>
            <a:xfrm>
              <a:off x="6847936" y="2444875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Exploratory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Analysis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96EB196-F954-4F59-72C3-5EC8B4185E16}"/>
                </a:ext>
              </a:extLst>
            </p:cNvPr>
            <p:cNvSpPr/>
            <p:nvPr/>
          </p:nvSpPr>
          <p:spPr>
            <a:xfrm>
              <a:off x="6847936" y="3024106"/>
              <a:ext cx="892416" cy="460463"/>
            </a:xfrm>
            <a:prstGeom prst="roundRect">
              <a:avLst>
                <a:gd name="adj" fmla="val 92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3rd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party</a:t>
              </a:r>
              <a:r>
                <a:rPr lang="es-ES" sz="8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8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tools</a:t>
              </a:r>
              <a:endParaRPr lang="es-ES" sz="8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</p:grpSp>
      <p:cxnSp>
        <p:nvCxnSpPr>
          <p:cNvPr id="99" name="Conector recto de flecha 20">
            <a:extLst>
              <a:ext uri="{FF2B5EF4-FFF2-40B4-BE49-F238E27FC236}">
                <a16:creationId xmlns:a16="http://schemas.microsoft.com/office/drawing/2014/main" id="{497B0218-A6EE-5626-8C33-8D8A6D3B8501}"/>
              </a:ext>
            </a:extLst>
          </p:cNvPr>
          <p:cNvCxnSpPr>
            <a:cxnSpLocks/>
            <a:stCxn id="94" idx="1"/>
            <a:endCxn id="38" idx="3"/>
          </p:cNvCxnSpPr>
          <p:nvPr/>
        </p:nvCxnSpPr>
        <p:spPr>
          <a:xfrm rot="10800000" flipV="1">
            <a:off x="6004540" y="2344516"/>
            <a:ext cx="439669" cy="79982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de flecha 20">
            <a:extLst>
              <a:ext uri="{FF2B5EF4-FFF2-40B4-BE49-F238E27FC236}">
                <a16:creationId xmlns:a16="http://schemas.microsoft.com/office/drawing/2014/main" id="{CB6B495D-48FB-313C-4B8B-A0E37E381EC6}"/>
              </a:ext>
            </a:extLst>
          </p:cNvPr>
          <p:cNvCxnSpPr>
            <a:cxnSpLocks/>
            <a:stCxn id="95" idx="1"/>
            <a:endCxn id="38" idx="3"/>
          </p:cNvCxnSpPr>
          <p:nvPr/>
        </p:nvCxnSpPr>
        <p:spPr>
          <a:xfrm rot="10800000" flipV="1">
            <a:off x="6004540" y="2918388"/>
            <a:ext cx="439669" cy="22595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de flecha 20">
            <a:extLst>
              <a:ext uri="{FF2B5EF4-FFF2-40B4-BE49-F238E27FC236}">
                <a16:creationId xmlns:a16="http://schemas.microsoft.com/office/drawing/2014/main" id="{1AF67B2A-5F2B-EEC0-7FBC-802B7D249092}"/>
              </a:ext>
            </a:extLst>
          </p:cNvPr>
          <p:cNvCxnSpPr>
            <a:cxnSpLocks/>
            <a:stCxn id="96" idx="1"/>
            <a:endCxn id="38" idx="3"/>
          </p:cNvCxnSpPr>
          <p:nvPr/>
        </p:nvCxnSpPr>
        <p:spPr>
          <a:xfrm rot="10800000">
            <a:off x="6004540" y="3144340"/>
            <a:ext cx="439669" cy="353280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de flecha 20">
            <a:extLst>
              <a:ext uri="{FF2B5EF4-FFF2-40B4-BE49-F238E27FC236}">
                <a16:creationId xmlns:a16="http://schemas.microsoft.com/office/drawing/2014/main" id="{79503E21-3E0D-CE26-E771-908E02F5ED09}"/>
              </a:ext>
            </a:extLst>
          </p:cNvPr>
          <p:cNvCxnSpPr>
            <a:cxnSpLocks/>
            <a:stCxn id="97" idx="1"/>
            <a:endCxn id="38" idx="3"/>
          </p:cNvCxnSpPr>
          <p:nvPr/>
        </p:nvCxnSpPr>
        <p:spPr>
          <a:xfrm rot="10800000">
            <a:off x="6004540" y="3144341"/>
            <a:ext cx="439669" cy="93251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61016F3-184F-2B2B-727F-930F294F7B2C}"/>
              </a:ext>
            </a:extLst>
          </p:cNvPr>
          <p:cNvGrpSpPr/>
          <p:nvPr/>
        </p:nvGrpSpPr>
        <p:grpSpPr>
          <a:xfrm>
            <a:off x="7596336" y="2947622"/>
            <a:ext cx="1239165" cy="698413"/>
            <a:chOff x="7401841" y="3012858"/>
            <a:chExt cx="1239165" cy="698413"/>
          </a:xfrm>
        </p:grpSpPr>
        <p:grpSp>
          <p:nvGrpSpPr>
            <p:cNvPr id="141" name="Grupo 140">
              <a:extLst>
                <a:ext uri="{FF2B5EF4-FFF2-40B4-BE49-F238E27FC236}">
                  <a16:creationId xmlns:a16="http://schemas.microsoft.com/office/drawing/2014/main" id="{FA99D6FB-FEC2-262C-59C7-C887046A97E0}"/>
                </a:ext>
              </a:extLst>
            </p:cNvPr>
            <p:cNvGrpSpPr/>
            <p:nvPr/>
          </p:nvGrpSpPr>
          <p:grpSpPr>
            <a:xfrm>
              <a:off x="7401841" y="3012858"/>
              <a:ext cx="1239165" cy="698413"/>
              <a:chOff x="7419820" y="3012192"/>
              <a:chExt cx="1239165" cy="698413"/>
            </a:xfrm>
          </p:grpSpPr>
          <p:pic>
            <p:nvPicPr>
              <p:cNvPr id="134" name="Imagen 133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027E3344-4A31-2580-B62A-21226D99DE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19820" y="3172484"/>
                <a:ext cx="524728" cy="524728"/>
              </a:xfrm>
              <a:prstGeom prst="rect">
                <a:avLst/>
              </a:prstGeom>
            </p:spPr>
          </p:pic>
          <p:pic>
            <p:nvPicPr>
              <p:cNvPr id="138" name="Imagen 13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9B23CA0-F884-D933-6D9E-BC428807D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71715" y="3395778"/>
                <a:ext cx="287270" cy="287270"/>
              </a:xfrm>
              <a:prstGeom prst="rect">
                <a:avLst/>
              </a:prstGeom>
            </p:spPr>
          </p:pic>
          <p:pic>
            <p:nvPicPr>
              <p:cNvPr id="139" name="Imagen 138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2A15496-1FA1-EAFF-2409-0BA22785D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61267" y="3012192"/>
                <a:ext cx="698413" cy="698413"/>
              </a:xfrm>
              <a:prstGeom prst="rect">
                <a:avLst/>
              </a:prstGeom>
            </p:spPr>
          </p:pic>
        </p:grpSp>
        <p:pic>
          <p:nvPicPr>
            <p:cNvPr id="140" name="Imagen 139" descr="Forma&#10;&#10;El contenido generado por IA puede ser incorrecto.">
              <a:extLst>
                <a:ext uri="{FF2B5EF4-FFF2-40B4-BE49-F238E27FC236}">
                  <a16:creationId xmlns:a16="http://schemas.microsoft.com/office/drawing/2014/main" id="{28B1CE94-D688-5A42-AECC-E034AD39F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6425" y="3173150"/>
              <a:ext cx="524728" cy="524728"/>
            </a:xfrm>
            <a:prstGeom prst="rect">
              <a:avLst/>
            </a:prstGeom>
          </p:spPr>
        </p:pic>
      </p:grp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ACE23D35-A303-7D21-F9A0-7BD6CBF036BB}"/>
              </a:ext>
            </a:extLst>
          </p:cNvPr>
          <p:cNvSpPr txBox="1"/>
          <p:nvPr/>
        </p:nvSpPr>
        <p:spPr>
          <a:xfrm>
            <a:off x="7712339" y="3659337"/>
            <a:ext cx="10557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 err="1">
                <a:latin typeface="Montserrat" panose="00000500000000000000" pitchFamily="2" charset="0"/>
              </a:rPr>
              <a:t>User</a:t>
            </a:r>
            <a:r>
              <a:rPr lang="es-ES" sz="900" dirty="0">
                <a:latin typeface="Montserrat" panose="00000500000000000000" pitchFamily="2" charset="0"/>
              </a:rPr>
              <a:t> / </a:t>
            </a:r>
            <a:r>
              <a:rPr lang="es-ES" sz="900" dirty="0" err="1">
                <a:latin typeface="Montserrat" panose="00000500000000000000" pitchFamily="2" charset="0"/>
              </a:rPr>
              <a:t>amins</a:t>
            </a:r>
            <a:endParaRPr lang="es-ES" sz="900" dirty="0">
              <a:latin typeface="Montserrat" panose="00000500000000000000" pitchFamily="2" charset="0"/>
            </a:endParaRPr>
          </a:p>
        </p:txBody>
      </p:sp>
      <p:cxnSp>
        <p:nvCxnSpPr>
          <p:cNvPr id="144" name="Conector recto de flecha 20">
            <a:extLst>
              <a:ext uri="{FF2B5EF4-FFF2-40B4-BE49-F238E27FC236}">
                <a16:creationId xmlns:a16="http://schemas.microsoft.com/office/drawing/2014/main" id="{525B5330-21F4-60A5-F657-183ABDFC323D}"/>
              </a:ext>
            </a:extLst>
          </p:cNvPr>
          <p:cNvCxnSpPr>
            <a:cxnSpLocks/>
            <a:stCxn id="134" idx="1"/>
            <a:endCxn id="94" idx="3"/>
          </p:cNvCxnSpPr>
          <p:nvPr/>
        </p:nvCxnSpPr>
        <p:spPr>
          <a:xfrm rot="10800000">
            <a:off x="7336624" y="2344518"/>
            <a:ext cx="259712" cy="102576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de flecha 20">
            <a:extLst>
              <a:ext uri="{FF2B5EF4-FFF2-40B4-BE49-F238E27FC236}">
                <a16:creationId xmlns:a16="http://schemas.microsoft.com/office/drawing/2014/main" id="{6CA6F7E5-AB01-7850-F705-7BF09F91141E}"/>
              </a:ext>
            </a:extLst>
          </p:cNvPr>
          <p:cNvCxnSpPr>
            <a:cxnSpLocks/>
            <a:stCxn id="134" idx="1"/>
            <a:endCxn id="95" idx="3"/>
          </p:cNvCxnSpPr>
          <p:nvPr/>
        </p:nvCxnSpPr>
        <p:spPr>
          <a:xfrm rot="10800000">
            <a:off x="7336624" y="2918390"/>
            <a:ext cx="259712" cy="451889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20">
            <a:extLst>
              <a:ext uri="{FF2B5EF4-FFF2-40B4-BE49-F238E27FC236}">
                <a16:creationId xmlns:a16="http://schemas.microsoft.com/office/drawing/2014/main" id="{54F87F9C-F559-C859-B357-C4EDC3D81C1C}"/>
              </a:ext>
            </a:extLst>
          </p:cNvPr>
          <p:cNvCxnSpPr>
            <a:cxnSpLocks/>
            <a:stCxn id="134" idx="1"/>
            <a:endCxn id="96" idx="3"/>
          </p:cNvCxnSpPr>
          <p:nvPr/>
        </p:nvCxnSpPr>
        <p:spPr>
          <a:xfrm rot="10800000" flipV="1">
            <a:off x="7336624" y="3370278"/>
            <a:ext cx="259712" cy="127342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20">
            <a:extLst>
              <a:ext uri="{FF2B5EF4-FFF2-40B4-BE49-F238E27FC236}">
                <a16:creationId xmlns:a16="http://schemas.microsoft.com/office/drawing/2014/main" id="{0B759943-96C8-9FED-9444-5BCEFAF85AA1}"/>
              </a:ext>
            </a:extLst>
          </p:cNvPr>
          <p:cNvCxnSpPr>
            <a:cxnSpLocks/>
            <a:stCxn id="134" idx="1"/>
            <a:endCxn id="97" idx="3"/>
          </p:cNvCxnSpPr>
          <p:nvPr/>
        </p:nvCxnSpPr>
        <p:spPr>
          <a:xfrm rot="10800000" flipV="1">
            <a:off x="7336624" y="3370277"/>
            <a:ext cx="259712" cy="706573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987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72D9-9C3A-70D9-34E6-BBBF9758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0D013-7770-B0D7-6715-6B22B6AF4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Responde preguntas sobre el estado de objetos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7F62472F-83F8-11DE-589C-A5E284CAA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Objects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Metadata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83EA4EE-F7BE-82E0-2D8D-D3FB3D3D032D}"/>
              </a:ext>
            </a:extLst>
          </p:cNvPr>
          <p:cNvSpPr txBox="1"/>
          <p:nvPr/>
        </p:nvSpPr>
        <p:spPr>
          <a:xfrm>
            <a:off x="628650" y="2708920"/>
            <a:ext cx="388843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s-E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=“sales”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!=“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information_schema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2D3725-0DAF-F172-BB18-BB87D50A7993}"/>
              </a:ext>
            </a:extLst>
          </p:cNvPr>
          <p:cNvSpPr txBox="1"/>
          <p:nvPr/>
        </p:nvSpPr>
        <p:spPr>
          <a:xfrm>
            <a:off x="634380" y="4117141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grantee,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privilege_type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system.information_schema.table_privileges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8F4AC5-09E9-1802-00A0-ABB4C5ED7928}"/>
              </a:ext>
            </a:extLst>
          </p:cNvPr>
          <p:cNvSpPr txBox="1"/>
          <p:nvPr/>
        </p:nvSpPr>
        <p:spPr>
          <a:xfrm>
            <a:off x="5076056" y="2708919"/>
            <a:ext cx="3888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table_name,last_altered_by,last_altered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</a:t>
            </a:r>
            <a:r>
              <a:rPr lang="en-US" sz="1000" dirty="0" err="1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tables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1,3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71142D-F626-7F1F-06D3-0C63F671D376}"/>
              </a:ext>
            </a:extLst>
          </p:cNvPr>
          <p:cNvSpPr txBox="1"/>
          <p:nvPr/>
        </p:nvSpPr>
        <p:spPr>
          <a:xfrm>
            <a:off x="5076056" y="4293096"/>
            <a:ext cx="4067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table_owner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system.information_schema.tables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="sesion1_2"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table_schema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="layer30_silver“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="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4E59AAF8-7910-C494-9118-226F3D5E6140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¿Que tablas hay dentro del Catalogo Sales?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641C3B69-3A36-5EC6-13E8-D6ED6B3A59AF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hizo la ultima actualización de las tablas en plata y cuando?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527D2E9-841C-270F-5186-409F0EB8C39F}"/>
              </a:ext>
            </a:extLst>
          </p:cNvPr>
          <p:cNvSpPr txBox="1">
            <a:spLocks/>
          </p:cNvSpPr>
          <p:nvPr/>
        </p:nvSpPr>
        <p:spPr>
          <a:xfrm>
            <a:off x="628650" y="398766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tiene acceso a esta tabla?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D7A5AB07-203F-0437-32E0-ED263A5603C8}"/>
              </a:ext>
            </a:extLst>
          </p:cNvPr>
          <p:cNvSpPr txBox="1">
            <a:spLocks/>
          </p:cNvSpPr>
          <p:nvPr/>
        </p:nvSpPr>
        <p:spPr>
          <a:xfrm>
            <a:off x="5076056" y="3982677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es el </a:t>
            </a:r>
            <a:r>
              <a:rPr lang="es-ES" sz="1200" b="1" dirty="0" err="1">
                <a:latin typeface="Montserrat" panose="00000500000000000000" pitchFamily="2" charset="0"/>
              </a:rPr>
              <a:t>owner</a:t>
            </a:r>
            <a:r>
              <a:rPr lang="es-ES" sz="1200" b="1" dirty="0">
                <a:latin typeface="Montserrat" panose="00000500000000000000" pitchFamily="2" charset="0"/>
              </a:rPr>
              <a:t> de esta tabla?</a:t>
            </a:r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CEB6E2E6-B6EE-3248-B17B-F7BBDF0920DA}"/>
              </a:ext>
            </a:extLst>
          </p:cNvPr>
          <p:cNvSpPr/>
          <p:nvPr/>
        </p:nvSpPr>
        <p:spPr>
          <a:xfrm>
            <a:off x="4911171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strella: 5 puntas 10">
            <a:extLst>
              <a:ext uri="{FF2B5EF4-FFF2-40B4-BE49-F238E27FC236}">
                <a16:creationId xmlns:a16="http://schemas.microsoft.com/office/drawing/2014/main" id="{0D8E32FE-5128-C7B0-A204-D21FBCE6EA67}"/>
              </a:ext>
            </a:extLst>
          </p:cNvPr>
          <p:cNvSpPr/>
          <p:nvPr/>
        </p:nvSpPr>
        <p:spPr>
          <a:xfrm>
            <a:off x="468647" y="2174810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25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47D3-948F-CEE1-5910-C1737858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679B8D-F7A6-2935-20D7-0DE811997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Casi en tiempo real, observa quien accede a qué y cuando</a:t>
            </a: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BD89991C-1001-C88C-0E95-875EB74BB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Audit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BB5BFA-0C86-6828-9FAF-A7069E40DC8B}"/>
              </a:ext>
            </a:extLst>
          </p:cNvPr>
          <p:cNvSpPr txBox="1"/>
          <p:nvPr/>
        </p:nvSpPr>
        <p:spPr>
          <a:xfrm>
            <a:off x="628650" y="2708920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count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(*)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s-E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generateTemporaryTableCredential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s-E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s-E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060EC0-42F7-404B-C4B1-8A6E495A49BB}"/>
              </a:ext>
            </a:extLst>
          </p:cNvPr>
          <p:cNvSpPr txBox="1"/>
          <p:nvPr/>
        </p:nvSpPr>
        <p:spPr>
          <a:xfrm>
            <a:off x="628650" y="4503557"/>
            <a:ext cx="3888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event_time_local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"251008j@gmail.com"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&gt;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current_date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 INTERVAL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DAY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event_time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AEBC0E-A061-CF62-08A9-3499E7CF04C6}"/>
              </a:ext>
            </a:extLst>
          </p:cNvPr>
          <p:cNvSpPr txBox="1"/>
          <p:nvPr/>
        </p:nvSpPr>
        <p:spPr>
          <a:xfrm>
            <a:off x="5076056" y="2708919"/>
            <a:ext cx="38884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request_params.full_name_arg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“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dim_aircraft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deleteTable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"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3EF70EA-C25D-BB57-29E9-F53A434933C0}"/>
              </a:ext>
            </a:extLst>
          </p:cNvPr>
          <p:cNvSpPr txBox="1"/>
          <p:nvPr/>
        </p:nvSpPr>
        <p:spPr>
          <a:xfrm>
            <a:off x="5076056" y="4503557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1101D260-FA90-59D2-1377-04C5E8814245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accede a esta tabla con más frecuencia?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4BB62260-1E3C-4272-5909-DF1707ACB8EB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¿Quién borro esta Tabla?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6742D4DC-6A7A-30F7-BC72-6388208BE688}"/>
              </a:ext>
            </a:extLst>
          </p:cNvPr>
          <p:cNvSpPr txBox="1">
            <a:spLocks/>
          </p:cNvSpPr>
          <p:nvPr/>
        </p:nvSpPr>
        <p:spPr>
          <a:xfrm>
            <a:off x="628650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¿A qué ha accedido este usuario en las ultimas 24h?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1DD20986-03E7-31D8-3E61-D750F871D3C1}"/>
              </a:ext>
            </a:extLst>
          </p:cNvPr>
          <p:cNvSpPr txBox="1">
            <a:spLocks/>
          </p:cNvSpPr>
          <p:nvPr/>
        </p:nvSpPr>
        <p:spPr>
          <a:xfrm>
            <a:off x="5076056" y="407707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873ED76-8EB7-8498-5A95-DCA4D2E7DB75}"/>
              </a:ext>
            </a:extLst>
          </p:cNvPr>
          <p:cNvSpPr/>
          <p:nvPr/>
        </p:nvSpPr>
        <p:spPr>
          <a:xfrm>
            <a:off x="440814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635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F818-5F2F-10B2-AA6E-1E98ECFD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C9E7A5-85D6-5831-A757-9D13C7AD9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734" y="1275667"/>
            <a:ext cx="6264696" cy="426485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400" dirty="0">
                <a:latin typeface="Montserrat" panose="00000500000000000000" pitchFamily="2" charset="0"/>
              </a:rPr>
              <a:t>Entiende el coste a lo largo de la </a:t>
            </a:r>
            <a:r>
              <a:rPr lang="es-ES" sz="1400" dirty="0" err="1">
                <a:latin typeface="Montserrat" panose="00000500000000000000" pitchFamily="2" charset="0"/>
              </a:rPr>
              <a:t>organizacion</a:t>
            </a:r>
            <a:endParaRPr lang="es-ES" sz="1400" dirty="0">
              <a:latin typeface="Montserrat" panose="00000500000000000000" pitchFamily="2" charset="0"/>
            </a:endParaRPr>
          </a:p>
        </p:txBody>
      </p: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162F8B12-0714-00FA-A2FC-7B9D6288C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Billing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Logs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6FC5AD-9C34-7E09-62F2-D0175FBAED37}"/>
              </a:ext>
            </a:extLst>
          </p:cNvPr>
          <p:cNvSpPr txBox="1"/>
          <p:nvPr/>
        </p:nvSpPr>
        <p:spPr>
          <a:xfrm>
            <a:off x="628650" y="2622549"/>
            <a:ext cx="4015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SUM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dbus_consumed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DATE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usage_start_time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usage_date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ASC;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8FA271-193B-0355-F5EC-0D8C26699F5E}"/>
              </a:ext>
            </a:extLst>
          </p:cNvPr>
          <p:cNvSpPr txBox="1"/>
          <p:nvPr/>
        </p:nvSpPr>
        <p:spPr>
          <a:xfrm>
            <a:off x="620060" y="4641884"/>
            <a:ext cx="38884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AS STRING)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`Job ID`,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NOT NULL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CAST(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usage_metadata.job_id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STRING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DESC;</a:t>
            </a:r>
            <a:endParaRPr lang="es-E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52BE6-FE2E-EB7C-5F0E-6552A41AC851}"/>
              </a:ext>
            </a:extLst>
          </p:cNvPr>
          <p:cNvSpPr txBox="1"/>
          <p:nvPr/>
        </p:nvSpPr>
        <p:spPr>
          <a:xfrm>
            <a:off x="5076056" y="2622549"/>
            <a:ext cx="3888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COALESCE(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['Creator']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custom_tags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['Owner'], 'unknown')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User,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SUM(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usage_quantity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AS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system.billing.usage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usage_unit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'DBU'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DBUs 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DESC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FA80A0-21EB-852E-5390-1E155ADF403F}"/>
              </a:ext>
            </a:extLst>
          </p:cNvPr>
          <p:cNvSpPr txBox="1"/>
          <p:nvPr/>
        </p:nvSpPr>
        <p:spPr>
          <a:xfrm>
            <a:off x="5076056" y="4720559"/>
            <a:ext cx="40679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request_params.table_full_name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count(*)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system.access.audit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service_name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unityCatalog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user_identity.email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"251008@gmail.com"</a:t>
            </a:r>
            <a:endParaRPr lang="en-US" sz="1000" dirty="0">
              <a:solidFill>
                <a:srgbClr val="82AA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ORDER BY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DESC LIMIT 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</a:t>
            </a:r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;</a:t>
            </a:r>
            <a:endParaRPr lang="es-E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39281C94-3A51-A705-01F1-1B1C97D9066C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¿Cuál es la tendencia de consumo diaria en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9ED23637-3BEE-054D-0E8B-36F86F76D98D}"/>
              </a:ext>
            </a:extLst>
          </p:cNvPr>
          <p:cNvSpPr txBox="1">
            <a:spLocks/>
          </p:cNvSpPr>
          <p:nvPr/>
        </p:nvSpPr>
        <p:spPr>
          <a:xfrm>
            <a:off x="5076056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TOP 10 usuarios que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 consumen</a:t>
            </a:r>
          </a:p>
        </p:txBody>
      </p:sp>
      <p:sp>
        <p:nvSpPr>
          <p:cNvPr id="12" name="Marcador de contenido 3">
            <a:extLst>
              <a:ext uri="{FF2B5EF4-FFF2-40B4-BE49-F238E27FC236}">
                <a16:creationId xmlns:a16="http://schemas.microsoft.com/office/drawing/2014/main" id="{978F89A4-1D57-6394-783D-CDBA9766DF3D}"/>
              </a:ext>
            </a:extLst>
          </p:cNvPr>
          <p:cNvSpPr txBox="1">
            <a:spLocks/>
          </p:cNvSpPr>
          <p:nvPr/>
        </p:nvSpPr>
        <p:spPr>
          <a:xfrm>
            <a:off x="628650" y="432940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</a:t>
            </a:r>
            <a:r>
              <a:rPr lang="es-ES" sz="1200" b="1" dirty="0" err="1">
                <a:latin typeface="Montserrat" panose="00000500000000000000" pitchFamily="2" charset="0"/>
              </a:rPr>
              <a:t>JOBs</a:t>
            </a:r>
            <a:r>
              <a:rPr lang="es-ES" sz="1200" b="1" dirty="0">
                <a:latin typeface="Montserrat" panose="00000500000000000000" pitchFamily="2" charset="0"/>
              </a:rPr>
              <a:t> consumieron más </a:t>
            </a:r>
            <a:r>
              <a:rPr lang="es-ES" sz="1200" b="1" dirty="0" err="1">
                <a:latin typeface="Montserrat" panose="00000500000000000000" pitchFamily="2" charset="0"/>
              </a:rPr>
              <a:t>DBUs</a:t>
            </a:r>
            <a:r>
              <a:rPr lang="es-ES" sz="1200" b="1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41BC5F5D-A032-D1BE-BFC7-23A9853D3C9B}"/>
              </a:ext>
            </a:extLst>
          </p:cNvPr>
          <p:cNvSpPr txBox="1">
            <a:spLocks/>
          </p:cNvSpPr>
          <p:nvPr/>
        </p:nvSpPr>
        <p:spPr>
          <a:xfrm>
            <a:off x="5051854" y="4306152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accede el usuario con más </a:t>
            </a:r>
            <a:r>
              <a:rPr lang="es-ES" sz="1200" b="1" dirty="0" err="1">
                <a:latin typeface="Montserrat" panose="00000500000000000000" pitchFamily="2" charset="0"/>
              </a:rPr>
              <a:t>frecuncia</a:t>
            </a:r>
            <a:endParaRPr lang="es-ES" sz="1200" b="1" dirty="0">
              <a:latin typeface="Montserrat" panose="00000500000000000000" pitchFamily="2" charset="0"/>
            </a:endParaRPr>
          </a:p>
        </p:txBody>
      </p:sp>
      <p:sp>
        <p:nvSpPr>
          <p:cNvPr id="3" name="Estrella: 5 puntas 2">
            <a:extLst>
              <a:ext uri="{FF2B5EF4-FFF2-40B4-BE49-F238E27FC236}">
                <a16:creationId xmlns:a16="http://schemas.microsoft.com/office/drawing/2014/main" id="{8CDC6D19-D654-0FA4-C100-DC6B6E7994B4}"/>
              </a:ext>
            </a:extLst>
          </p:cNvPr>
          <p:cNvSpPr/>
          <p:nvPr/>
        </p:nvSpPr>
        <p:spPr>
          <a:xfrm>
            <a:off x="429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strella: 5 puntas 9">
            <a:extLst>
              <a:ext uri="{FF2B5EF4-FFF2-40B4-BE49-F238E27FC236}">
                <a16:creationId xmlns:a16="http://schemas.microsoft.com/office/drawing/2014/main" id="{7BB2D95C-D22F-439E-FC40-C142826431E8}"/>
              </a:ext>
            </a:extLst>
          </p:cNvPr>
          <p:cNvSpPr/>
          <p:nvPr/>
        </p:nvSpPr>
        <p:spPr>
          <a:xfrm>
            <a:off x="429002" y="4312057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569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3;g35ee5cc475b_0_63">
            <a:extLst>
              <a:ext uri="{FF2B5EF4-FFF2-40B4-BE49-F238E27FC236}">
                <a16:creationId xmlns:a16="http://schemas.microsoft.com/office/drawing/2014/main" id="{D5770971-740D-6ECC-D302-58E840061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Lineage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8491802-33C4-1295-E559-6C540BA862D7}"/>
              </a:ext>
            </a:extLst>
          </p:cNvPr>
          <p:cNvSpPr txBox="1"/>
          <p:nvPr/>
        </p:nvSpPr>
        <p:spPr>
          <a:xfrm>
            <a:off x="628650" y="2492896"/>
            <a:ext cx="40153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login_data_bronze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60F54C88-7693-6D2A-4EAA-8A3D4EF1A844}"/>
              </a:ext>
            </a:extLst>
          </p:cNvPr>
          <p:cNvSpPr txBox="1">
            <a:spLocks/>
          </p:cNvSpPr>
          <p:nvPr/>
        </p:nvSpPr>
        <p:spPr>
          <a:xfrm>
            <a:off x="628650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tablas tienen esta como fuente?</a:t>
            </a:r>
          </a:p>
        </p:txBody>
      </p:sp>
      <p:sp>
        <p:nvSpPr>
          <p:cNvPr id="9" name="Estrella: 5 puntas 8">
            <a:extLst>
              <a:ext uri="{FF2B5EF4-FFF2-40B4-BE49-F238E27FC236}">
                <a16:creationId xmlns:a16="http://schemas.microsoft.com/office/drawing/2014/main" id="{20A2E0C4-F392-8704-475B-AD74A7F323D5}"/>
              </a:ext>
            </a:extLst>
          </p:cNvPr>
          <p:cNvSpPr/>
          <p:nvPr/>
        </p:nvSpPr>
        <p:spPr>
          <a:xfrm>
            <a:off x="429002" y="2184482"/>
            <a:ext cx="216024" cy="224824"/>
          </a:xfrm>
          <a:prstGeom prst="star5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E139E6-5F40-63FB-1B7C-BC4E5A128233}"/>
              </a:ext>
            </a:extLst>
          </p:cNvPr>
          <p:cNvSpPr txBox="1"/>
          <p:nvPr/>
        </p:nvSpPr>
        <p:spPr>
          <a:xfrm>
            <a:off x="4843656" y="2492896"/>
            <a:ext cx="40153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SELECT DISTINCT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entity_type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entity_id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source_table_full_name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FROM</a:t>
            </a:r>
          </a:p>
          <a:p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system.lakeflow.table_lineage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WHERE</a:t>
            </a:r>
          </a:p>
          <a:p>
            <a:r>
              <a:rPr lang="en-US" sz="1000" dirty="0">
                <a:solidFill>
                  <a:srgbClr val="82AA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source_table_name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'</a:t>
            </a:r>
            <a:r>
              <a:rPr lang="en-US" sz="1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login_data_silver</a:t>
            </a:r>
            <a:r>
              <a:rPr lang="en-US" sz="1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';</a:t>
            </a:r>
            <a:endParaRPr lang="es-E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Marcador de contenido 3">
            <a:extLst>
              <a:ext uri="{FF2B5EF4-FFF2-40B4-BE49-F238E27FC236}">
                <a16:creationId xmlns:a16="http://schemas.microsoft.com/office/drawing/2014/main" id="{1DBC7BE9-6B79-2971-04BF-943307E0C505}"/>
              </a:ext>
            </a:extLst>
          </p:cNvPr>
          <p:cNvSpPr txBox="1">
            <a:spLocks/>
          </p:cNvSpPr>
          <p:nvPr/>
        </p:nvSpPr>
        <p:spPr>
          <a:xfrm>
            <a:off x="4788024" y="2196064"/>
            <a:ext cx="3439294" cy="42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200" b="1" dirty="0">
                <a:latin typeface="Montserrat" panose="00000500000000000000" pitchFamily="2" charset="0"/>
              </a:rPr>
              <a:t>¿Qué usuarios leen de esta tabla?</a:t>
            </a:r>
          </a:p>
        </p:txBody>
      </p:sp>
    </p:spTree>
    <p:extLst>
      <p:ext uri="{BB962C8B-B14F-4D97-AF65-F5344CB8AC3E}">
        <p14:creationId xmlns:p14="http://schemas.microsoft.com/office/powerpoint/2010/main" val="2701204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6DC0-B46F-A4AF-7631-A4FD2D3F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CE353D08-7B61-D492-E544-BB5C4942F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Auditoria de datos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Tables: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Dashboard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7AD934-196F-2FEE-890E-CD0E27F4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12" y="1124744"/>
            <a:ext cx="6535175" cy="3672408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36E9FA19-4964-0551-C607-7573E26F93DF}"/>
              </a:ext>
            </a:extLst>
          </p:cNvPr>
          <p:cNvSpPr/>
          <p:nvPr/>
        </p:nvSpPr>
        <p:spPr>
          <a:xfrm>
            <a:off x="827584" y="5189656"/>
            <a:ext cx="7615758" cy="54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En la sesión de hoy disponiendo de las tablas de sistema, crearemos un </a:t>
            </a:r>
            <a:r>
              <a:rPr lang="es-ES" sz="1050" dirty="0" err="1">
                <a:solidFill>
                  <a:schemeClr val="tx1"/>
                </a:solidFill>
                <a:latin typeface="Montserrat" panose="00000500000000000000" pitchFamily="2" charset="0"/>
              </a:rPr>
              <a:t>dashboard</a:t>
            </a:r>
            <a:r>
              <a:rPr lang="es-ES" sz="1050" dirty="0">
                <a:solidFill>
                  <a:schemeClr val="tx1"/>
                </a:solidFill>
                <a:latin typeface="Montserrat" panose="00000500000000000000" pitchFamily="2" charset="0"/>
              </a:rPr>
              <a:t> representando los costes que hemos consumido hasta ahora</a:t>
            </a:r>
          </a:p>
        </p:txBody>
      </p:sp>
    </p:spTree>
    <p:extLst>
      <p:ext uri="{BB962C8B-B14F-4D97-AF65-F5344CB8AC3E}">
        <p14:creationId xmlns:p14="http://schemas.microsoft.com/office/powerpoint/2010/main" val="3208625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B1751-C744-07BD-9825-AD9741EF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FB10C1B-98C6-0B86-C534-C8FAC20F4737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AUDITING</a:t>
            </a:r>
          </a:p>
        </p:txBody>
      </p:sp>
    </p:spTree>
    <p:extLst>
      <p:ext uri="{BB962C8B-B14F-4D97-AF65-F5344CB8AC3E}">
        <p14:creationId xmlns:p14="http://schemas.microsoft.com/office/powerpoint/2010/main" val="2917686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11E28-6004-8477-961A-9BE6A182C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CB69ABF-C597-DCC2-058A-0C1BDD739E11}"/>
              </a:ext>
            </a:extLst>
          </p:cNvPr>
          <p:cNvSpPr txBox="1"/>
          <p:nvPr/>
        </p:nvSpPr>
        <p:spPr>
          <a:xfrm>
            <a:off x="2483768" y="2537901"/>
            <a:ext cx="4176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2288473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716C-6A65-C3FC-9A1F-0471246A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DDE504C7-E700-AA4A-0186-CE7B709C0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¿Qué es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quality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?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6801D26-B07D-8615-9A8D-0D4AAA431917}"/>
              </a:ext>
            </a:extLst>
          </p:cNvPr>
          <p:cNvGrpSpPr/>
          <p:nvPr/>
        </p:nvGrpSpPr>
        <p:grpSpPr>
          <a:xfrm>
            <a:off x="2648702" y="1161578"/>
            <a:ext cx="1231176" cy="1371213"/>
            <a:chOff x="3003870" y="1422455"/>
            <a:chExt cx="1231176" cy="1371213"/>
          </a:xfrm>
        </p:grpSpPr>
        <p:sp>
          <p:nvSpPr>
            <p:cNvPr id="5" name="Hexágono 4">
              <a:extLst>
                <a:ext uri="{FF2B5EF4-FFF2-40B4-BE49-F238E27FC236}">
                  <a16:creationId xmlns:a16="http://schemas.microsoft.com/office/drawing/2014/main" id="{228B152E-370B-2768-C425-AFBF3B70347E}"/>
                </a:ext>
              </a:extLst>
            </p:cNvPr>
            <p:cNvSpPr/>
            <p:nvPr/>
          </p:nvSpPr>
          <p:spPr>
            <a:xfrm rot="5400000">
              <a:off x="2933851" y="1492474"/>
              <a:ext cx="1371213" cy="1231176"/>
            </a:xfrm>
            <a:prstGeom prst="hexago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C4056454-790E-8F21-64EC-3181074CECDC}"/>
                </a:ext>
              </a:extLst>
            </p:cNvPr>
            <p:cNvGrpSpPr/>
            <p:nvPr/>
          </p:nvGrpSpPr>
          <p:grpSpPr>
            <a:xfrm>
              <a:off x="3081435" y="1614209"/>
              <a:ext cx="1108923" cy="1075455"/>
              <a:chOff x="3081435" y="1614209"/>
              <a:chExt cx="1108923" cy="1075455"/>
            </a:xfrm>
          </p:grpSpPr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14DDAE-E9F2-418C-8BBC-F1FF821F1272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Integrity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962085C7-319F-63FF-4481-084DC5C53E2F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78B9BC30-6A21-5B5B-D41E-964CB178CEED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D1FA63D4-15A3-F947-5B3C-125C56EF9BF6}"/>
              </a:ext>
            </a:extLst>
          </p:cNvPr>
          <p:cNvGrpSpPr/>
          <p:nvPr/>
        </p:nvGrpSpPr>
        <p:grpSpPr>
          <a:xfrm>
            <a:off x="4327738" y="1162469"/>
            <a:ext cx="1231176" cy="1371213"/>
            <a:chOff x="4283715" y="1422454"/>
            <a:chExt cx="1231176" cy="1371213"/>
          </a:xfrm>
        </p:grpSpPr>
        <p:sp>
          <p:nvSpPr>
            <p:cNvPr id="18" name="Hexágono 17">
              <a:extLst>
                <a:ext uri="{FF2B5EF4-FFF2-40B4-BE49-F238E27FC236}">
                  <a16:creationId xmlns:a16="http://schemas.microsoft.com/office/drawing/2014/main" id="{300C0DAB-A785-D59B-FCFD-13C3B5F2E8BF}"/>
                </a:ext>
              </a:extLst>
            </p:cNvPr>
            <p:cNvSpPr/>
            <p:nvPr/>
          </p:nvSpPr>
          <p:spPr>
            <a:xfrm rot="5400000">
              <a:off x="4213696" y="1492473"/>
              <a:ext cx="1371213" cy="1231176"/>
            </a:xfrm>
            <a:prstGeom prst="hexag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1EE4FB8F-4C13-3F5B-46CF-FA7CEF205C83}"/>
                </a:ext>
              </a:extLst>
            </p:cNvPr>
            <p:cNvGrpSpPr/>
            <p:nvPr/>
          </p:nvGrpSpPr>
          <p:grpSpPr>
            <a:xfrm>
              <a:off x="4362599" y="1614209"/>
              <a:ext cx="1108923" cy="881555"/>
              <a:chOff x="3081435" y="1614209"/>
              <a:chExt cx="1108923" cy="881555"/>
            </a:xfrm>
          </p:grpSpPr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D8B0C1-3363-FB88-9A44-7B7B4B8E12E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Accuracy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E7CC596-64EC-93B4-3647-8A918966231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exactos son los datos que disponemos?</a:t>
                </a:r>
              </a:p>
            </p:txBody>
          </p: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DFF81A20-34AD-74F9-A9B4-461BA64A20D8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F8D51A12-A49C-D100-9D67-D0E8ADCF14BD}"/>
              </a:ext>
            </a:extLst>
          </p:cNvPr>
          <p:cNvGrpSpPr/>
          <p:nvPr/>
        </p:nvGrpSpPr>
        <p:grpSpPr>
          <a:xfrm>
            <a:off x="1660280" y="2479345"/>
            <a:ext cx="1371213" cy="1231176"/>
            <a:chOff x="2167450" y="2597660"/>
            <a:chExt cx="1371213" cy="1231176"/>
          </a:xfrm>
        </p:grpSpPr>
        <p:sp>
          <p:nvSpPr>
            <p:cNvPr id="19" name="Hexágono 18">
              <a:extLst>
                <a:ext uri="{FF2B5EF4-FFF2-40B4-BE49-F238E27FC236}">
                  <a16:creationId xmlns:a16="http://schemas.microsoft.com/office/drawing/2014/main" id="{8E730F2C-C78E-CC26-9C72-FE4D2F571140}"/>
                </a:ext>
              </a:extLst>
            </p:cNvPr>
            <p:cNvSpPr/>
            <p:nvPr/>
          </p:nvSpPr>
          <p:spPr>
            <a:xfrm rot="10800000">
              <a:off x="2167450" y="2597660"/>
              <a:ext cx="1371213" cy="1231176"/>
            </a:xfrm>
            <a:prstGeom prst="hexagon">
              <a:avLst/>
            </a:prstGeom>
            <a:solidFill>
              <a:srgbClr val="00206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B2C76B44-BA28-6A84-32DB-36E8CA367304}"/>
                </a:ext>
              </a:extLst>
            </p:cNvPr>
            <p:cNvGrpSpPr/>
            <p:nvPr/>
          </p:nvGrpSpPr>
          <p:grpSpPr>
            <a:xfrm>
              <a:off x="2316714" y="2806643"/>
              <a:ext cx="1108923" cy="853320"/>
              <a:chOff x="3099555" y="1709865"/>
              <a:chExt cx="1108923" cy="853320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E11413C-4893-CBB1-F0B4-B8A942607E4F}"/>
                  </a:ext>
                </a:extLst>
              </p:cNvPr>
              <p:cNvSpPr txBox="1"/>
              <p:nvPr/>
            </p:nvSpPr>
            <p:spPr>
              <a:xfrm>
                <a:off x="3131841" y="1709865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Uniqueness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9A207BB1-0173-F78F-558B-3F4C7985008D}"/>
                  </a:ext>
                </a:extLst>
              </p:cNvPr>
              <p:cNvSpPr txBox="1"/>
              <p:nvPr/>
            </p:nvSpPr>
            <p:spPr>
              <a:xfrm>
                <a:off x="3099555" y="2101520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¿Cuál es el nivel de duplicados en los registros?</a:t>
                </a:r>
              </a:p>
            </p:txBody>
          </p: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F260B753-794F-4F88-A265-7F5AB6E0F2B5}"/>
                  </a:ext>
                </a:extLst>
              </p:cNvPr>
              <p:cNvCxnSpPr/>
              <p:nvPr/>
            </p:nvCxnSpPr>
            <p:spPr>
              <a:xfrm>
                <a:off x="3253820" y="2026616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087B400A-BD53-ACEE-3021-FDFB2E1A8BA1}"/>
              </a:ext>
            </a:extLst>
          </p:cNvPr>
          <p:cNvGrpSpPr/>
          <p:nvPr/>
        </p:nvGrpSpPr>
        <p:grpSpPr>
          <a:xfrm>
            <a:off x="5227126" y="2472038"/>
            <a:ext cx="1371213" cy="1330117"/>
            <a:chOff x="4980097" y="2597659"/>
            <a:chExt cx="1371213" cy="1330117"/>
          </a:xfrm>
        </p:grpSpPr>
        <p:sp>
          <p:nvSpPr>
            <p:cNvPr id="24" name="Hexágono 23">
              <a:extLst>
                <a:ext uri="{FF2B5EF4-FFF2-40B4-BE49-F238E27FC236}">
                  <a16:creationId xmlns:a16="http://schemas.microsoft.com/office/drawing/2014/main" id="{A8F18F14-4C1E-D493-AD1C-416D44629666}"/>
                </a:ext>
              </a:extLst>
            </p:cNvPr>
            <p:cNvSpPr/>
            <p:nvPr/>
          </p:nvSpPr>
          <p:spPr>
            <a:xfrm rot="10800000">
              <a:off x="4980097" y="2597659"/>
              <a:ext cx="1371213" cy="1231176"/>
            </a:xfrm>
            <a:prstGeom prst="hexagon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587A415B-D0DB-DAD8-AC5F-87C3FBA404BA}"/>
                </a:ext>
              </a:extLst>
            </p:cNvPr>
            <p:cNvGrpSpPr/>
            <p:nvPr/>
          </p:nvGrpSpPr>
          <p:grpSpPr>
            <a:xfrm>
              <a:off x="5053763" y="2811188"/>
              <a:ext cx="1188475" cy="1116588"/>
              <a:chOff x="2994090" y="1748309"/>
              <a:chExt cx="1188475" cy="1116588"/>
            </a:xfrm>
          </p:grpSpPr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FFD005B-3E90-1602-6D4A-6A57DAA2C292}"/>
                  </a:ext>
                </a:extLst>
              </p:cNvPr>
              <p:cNvSpPr txBox="1"/>
              <p:nvPr/>
            </p:nvSpPr>
            <p:spPr>
              <a:xfrm>
                <a:off x="2994090" y="1748309"/>
                <a:ext cx="11884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Completeness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45E541F7-E459-5AA9-FBB7-62749BE1AB47}"/>
                  </a:ext>
                </a:extLst>
              </p:cNvPr>
              <p:cNvSpPr txBox="1"/>
              <p:nvPr/>
            </p:nvSpPr>
            <p:spPr>
              <a:xfrm>
                <a:off x="3073642" y="2086222"/>
                <a:ext cx="1108923" cy="778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Estan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los datos mantenidos y actualizados a lo largo del tiempo?</a:t>
                </a:r>
              </a:p>
            </p:txBody>
          </p:sp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1F2B7A79-F516-318D-2975-DE2FB224776D}"/>
                  </a:ext>
                </a:extLst>
              </p:cNvPr>
              <p:cNvCxnSpPr/>
              <p:nvPr/>
            </p:nvCxnSpPr>
            <p:spPr>
              <a:xfrm>
                <a:off x="3192283" y="2045478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C39F3D23-3BA0-D3FA-71D8-3109D4DC53A5}"/>
              </a:ext>
            </a:extLst>
          </p:cNvPr>
          <p:cNvGrpSpPr/>
          <p:nvPr/>
        </p:nvGrpSpPr>
        <p:grpSpPr>
          <a:xfrm>
            <a:off x="1913301" y="3999407"/>
            <a:ext cx="1371213" cy="1231176"/>
            <a:chOff x="2245666" y="3861048"/>
            <a:chExt cx="1371213" cy="1231176"/>
          </a:xfrm>
        </p:grpSpPr>
        <p:sp>
          <p:nvSpPr>
            <p:cNvPr id="20" name="Hexágono 19">
              <a:extLst>
                <a:ext uri="{FF2B5EF4-FFF2-40B4-BE49-F238E27FC236}">
                  <a16:creationId xmlns:a16="http://schemas.microsoft.com/office/drawing/2014/main" id="{7EC6FE7F-10AA-891B-1462-7D6683A56104}"/>
                </a:ext>
              </a:extLst>
            </p:cNvPr>
            <p:cNvSpPr/>
            <p:nvPr/>
          </p:nvSpPr>
          <p:spPr>
            <a:xfrm rot="10800000">
              <a:off x="2245666" y="3861048"/>
              <a:ext cx="1371213" cy="1231176"/>
            </a:xfrm>
            <a:prstGeom prst="hexagon">
              <a:avLst/>
            </a:prstGeom>
            <a:solidFill>
              <a:srgbClr val="0070C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7BD24CA8-80F2-CB23-7756-FD6256130416}"/>
                </a:ext>
              </a:extLst>
            </p:cNvPr>
            <p:cNvGrpSpPr/>
            <p:nvPr/>
          </p:nvGrpSpPr>
          <p:grpSpPr>
            <a:xfrm>
              <a:off x="2399562" y="4016769"/>
              <a:ext cx="1108923" cy="758445"/>
              <a:chOff x="3081435" y="1614209"/>
              <a:chExt cx="1108923" cy="758445"/>
            </a:xfrm>
          </p:grpSpPr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D93D0795-B936-943C-B472-E57702A7A510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Timeliness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371DCB4-2228-F74D-F9AA-740E18435996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¿Cómo de actualizables son los datos?</a:t>
                </a:r>
              </a:p>
            </p:txBody>
          </p: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CD4F6045-05D1-0F8C-898A-394420DFBCFB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89A423E0-2C03-A5D8-D0CD-DB981337B053}"/>
              </a:ext>
            </a:extLst>
          </p:cNvPr>
          <p:cNvGrpSpPr/>
          <p:nvPr/>
        </p:nvGrpSpPr>
        <p:grpSpPr>
          <a:xfrm>
            <a:off x="5082737" y="3994682"/>
            <a:ext cx="1371213" cy="1231176"/>
            <a:chOff x="4818710" y="3865027"/>
            <a:chExt cx="1371213" cy="1231176"/>
          </a:xfrm>
        </p:grpSpPr>
        <p:sp>
          <p:nvSpPr>
            <p:cNvPr id="23" name="Hexágono 22">
              <a:extLst>
                <a:ext uri="{FF2B5EF4-FFF2-40B4-BE49-F238E27FC236}">
                  <a16:creationId xmlns:a16="http://schemas.microsoft.com/office/drawing/2014/main" id="{14D849DF-F447-E687-F6D0-268F948C209E}"/>
                </a:ext>
              </a:extLst>
            </p:cNvPr>
            <p:cNvSpPr/>
            <p:nvPr/>
          </p:nvSpPr>
          <p:spPr>
            <a:xfrm rot="10800000">
              <a:off x="4818710" y="3865027"/>
              <a:ext cx="1371213" cy="1231176"/>
            </a:xfrm>
            <a:prstGeom prst="hexagon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1C38CA46-1C14-C13B-9661-48E827ADAC25}"/>
                </a:ext>
              </a:extLst>
            </p:cNvPr>
            <p:cNvGrpSpPr/>
            <p:nvPr/>
          </p:nvGrpSpPr>
          <p:grpSpPr>
            <a:xfrm>
              <a:off x="4980096" y="4016769"/>
              <a:ext cx="1108923" cy="881555"/>
              <a:chOff x="3081435" y="1614209"/>
              <a:chExt cx="1108923" cy="881555"/>
            </a:xfrm>
          </p:grpSpPr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614D1BDA-2EB3-CEAF-E0D4-B287B0D625F9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Consistency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4E285851-A0A1-DF09-8E7D-47149424EE65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¿Conectan correctamente los datos con otras fuentes?</a:t>
                </a:r>
              </a:p>
            </p:txBody>
          </p:sp>
          <p:cxnSp>
            <p:nvCxnSpPr>
              <p:cNvPr id="49" name="Conector recto 48">
                <a:extLst>
                  <a:ext uri="{FF2B5EF4-FFF2-40B4-BE49-F238E27FC236}">
                    <a16:creationId xmlns:a16="http://schemas.microsoft.com/office/drawing/2014/main" id="{5C3EDAB4-18D1-9858-8DE2-0A2542DD1F3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33DFC5FA-1B75-EA2B-C6C3-9E024F319193}"/>
              </a:ext>
            </a:extLst>
          </p:cNvPr>
          <p:cNvGrpSpPr/>
          <p:nvPr/>
        </p:nvGrpSpPr>
        <p:grpSpPr>
          <a:xfrm>
            <a:off x="3445901" y="4591408"/>
            <a:ext cx="1371213" cy="1231176"/>
            <a:chOff x="3590418" y="4389504"/>
            <a:chExt cx="1371213" cy="1231176"/>
          </a:xfrm>
        </p:grpSpPr>
        <p:sp>
          <p:nvSpPr>
            <p:cNvPr id="21" name="Hexágono 20">
              <a:extLst>
                <a:ext uri="{FF2B5EF4-FFF2-40B4-BE49-F238E27FC236}">
                  <a16:creationId xmlns:a16="http://schemas.microsoft.com/office/drawing/2014/main" id="{55D5C6FE-3BC3-06D4-8005-889595665133}"/>
                </a:ext>
              </a:extLst>
            </p:cNvPr>
            <p:cNvSpPr/>
            <p:nvPr/>
          </p:nvSpPr>
          <p:spPr>
            <a:xfrm rot="10800000">
              <a:off x="3590418" y="4389504"/>
              <a:ext cx="1371213" cy="1231176"/>
            </a:xfrm>
            <a:prstGeom prst="hexagon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D23D746F-4807-C30F-9D4F-7C3E25BB9CDE}"/>
                </a:ext>
              </a:extLst>
            </p:cNvPr>
            <p:cNvGrpSpPr/>
            <p:nvPr/>
          </p:nvGrpSpPr>
          <p:grpSpPr>
            <a:xfrm>
              <a:off x="3744314" y="4544381"/>
              <a:ext cx="1108923" cy="1004666"/>
              <a:chOff x="3081435" y="1614209"/>
              <a:chExt cx="1108923" cy="1004666"/>
            </a:xfrm>
          </p:grpSpPr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159543E2-B344-DF53-1ECD-D2F650E30425}"/>
                  </a:ext>
                </a:extLst>
              </p:cNvPr>
              <p:cNvSpPr txBox="1"/>
              <p:nvPr/>
            </p:nvSpPr>
            <p:spPr>
              <a:xfrm>
                <a:off x="3095403" y="1614209"/>
                <a:ext cx="10081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000" b="1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Validaty</a:t>
                </a:r>
                <a:endParaRPr lang="es-ES" sz="10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B892AC72-A3AA-3780-E28B-575BD3C5A1F4}"/>
                  </a:ext>
                </a:extLst>
              </p:cNvPr>
              <p:cNvSpPr txBox="1"/>
              <p:nvPr/>
            </p:nvSpPr>
            <p:spPr>
              <a:xfrm>
                <a:off x="3081435" y="1910989"/>
                <a:ext cx="110892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¿Responden los datos a los formatos y </a:t>
                </a:r>
                <a:r>
                  <a:rPr lang="es-ES" sz="8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constraints</a:t>
                </a:r>
                <a:r>
                  <a:rPr lang="es-ES" sz="8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definidos?</a:t>
                </a:r>
              </a:p>
            </p:txBody>
          </p:sp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A4FD23DF-A01F-603A-8A26-85CC76B7D62A}"/>
                  </a:ext>
                </a:extLst>
              </p:cNvPr>
              <p:cNvCxnSpPr/>
              <p:nvPr/>
            </p:nvCxnSpPr>
            <p:spPr>
              <a:xfrm>
                <a:off x="3203848" y="1860430"/>
                <a:ext cx="792088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ED43811-3B1D-D4BA-33AD-BAC61A467954}"/>
              </a:ext>
            </a:extLst>
          </p:cNvPr>
          <p:cNvSpPr txBox="1"/>
          <p:nvPr/>
        </p:nvSpPr>
        <p:spPr>
          <a:xfrm>
            <a:off x="3406218" y="3187302"/>
            <a:ext cx="1371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latin typeface="Montserrat" panose="00000500000000000000" pitchFamily="2" charset="0"/>
              </a:rPr>
              <a:t>Data </a:t>
            </a:r>
            <a:r>
              <a:rPr lang="es-ES" sz="1400" b="1" dirty="0" err="1">
                <a:latin typeface="Montserrat" panose="00000500000000000000" pitchFamily="2" charset="0"/>
              </a:rPr>
              <a:t>Quality</a:t>
            </a:r>
            <a:endParaRPr lang="es-ES" sz="1400" b="1" dirty="0">
              <a:latin typeface="Montserrat" panose="00000500000000000000" pitchFamily="2" charset="0"/>
            </a:endParaRPr>
          </a:p>
          <a:p>
            <a:pPr algn="ctr"/>
            <a:r>
              <a:rPr lang="es-ES" sz="1400" b="1" dirty="0" err="1">
                <a:latin typeface="Montserrat" panose="00000500000000000000" pitchFamily="2" charset="0"/>
              </a:rPr>
              <a:t>Dimensions</a:t>
            </a:r>
            <a:endParaRPr lang="es-ES" sz="1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512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D612-B7F8-C81F-3137-6AEB13E7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0C42F262-CD74-DD24-67AE-C189E052EDA3}"/>
              </a:ext>
            </a:extLst>
          </p:cNvPr>
          <p:cNvGrpSpPr/>
          <p:nvPr/>
        </p:nvGrpSpPr>
        <p:grpSpPr>
          <a:xfrm>
            <a:off x="3491880" y="1471692"/>
            <a:ext cx="2160240" cy="2618473"/>
            <a:chOff x="3383868" y="1628800"/>
            <a:chExt cx="2376264" cy="2880320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57B0574-2329-A408-AEB9-B5927FDFBA4B}"/>
                </a:ext>
              </a:extLst>
            </p:cNvPr>
            <p:cNvSpPr/>
            <p:nvPr/>
          </p:nvSpPr>
          <p:spPr>
            <a:xfrm>
              <a:off x="3383868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HARD TO SCALE</a:t>
              </a:r>
            </a:p>
          </p:txBody>
        </p:sp>
        <p:pic>
          <p:nvPicPr>
            <p:cNvPr id="9" name="Imagen 8" descr="Forma&#10;&#10;El contenido generado por IA puede ser incorrecto.">
              <a:extLst>
                <a:ext uri="{FF2B5EF4-FFF2-40B4-BE49-F238E27FC236}">
                  <a16:creationId xmlns:a16="http://schemas.microsoft.com/office/drawing/2014/main" id="{D4D5F852-6C64-5E90-B26B-BAAA3A22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4150313" y="2015488"/>
              <a:ext cx="843373" cy="843373"/>
            </a:xfrm>
            <a:prstGeom prst="rect">
              <a:avLst/>
            </a:prstGeom>
          </p:spPr>
        </p:pic>
      </p:grpSp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64D92CCA-5BC0-2289-3550-19D58DD59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Retos de Data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Quality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812F885-095A-DD73-5B75-60EA4C864EC8}"/>
              </a:ext>
            </a:extLst>
          </p:cNvPr>
          <p:cNvGrpSpPr/>
          <p:nvPr/>
        </p:nvGrpSpPr>
        <p:grpSpPr>
          <a:xfrm>
            <a:off x="647564" y="1471692"/>
            <a:ext cx="2160240" cy="2618473"/>
            <a:chOff x="539552" y="1628800"/>
            <a:chExt cx="2376264" cy="288032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FE6F69C-5384-4509-2057-701586A2E2D5}"/>
                </a:ext>
              </a:extLst>
            </p:cNvPr>
            <p:cNvSpPr/>
            <p:nvPr/>
          </p:nvSpPr>
          <p:spPr>
            <a:xfrm>
              <a:off x="539552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HIGH FRICTION</a:t>
              </a:r>
            </a:p>
          </p:txBody>
        </p:sp>
        <p:pic>
          <p:nvPicPr>
            <p:cNvPr id="13" name="Imagen 12" descr="Forma&#10;&#10;El contenido generado por IA puede ser incorrecto.">
              <a:extLst>
                <a:ext uri="{FF2B5EF4-FFF2-40B4-BE49-F238E27FC236}">
                  <a16:creationId xmlns:a16="http://schemas.microsoft.com/office/drawing/2014/main" id="{50A43D30-CBFB-34B9-B4F8-443F927A3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62920" y="1964136"/>
              <a:ext cx="946078" cy="946078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48C4568-7275-835F-680E-2F85C1B26EAA}"/>
              </a:ext>
            </a:extLst>
          </p:cNvPr>
          <p:cNvGrpSpPr/>
          <p:nvPr/>
        </p:nvGrpSpPr>
        <p:grpSpPr>
          <a:xfrm>
            <a:off x="6382563" y="1471692"/>
            <a:ext cx="2160240" cy="2618473"/>
            <a:chOff x="6274551" y="1628800"/>
            <a:chExt cx="2376264" cy="288032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45FFB23-BAE2-4170-419F-F757BF94C740}"/>
                </a:ext>
              </a:extLst>
            </p:cNvPr>
            <p:cNvSpPr/>
            <p:nvPr/>
          </p:nvSpPr>
          <p:spPr>
            <a:xfrm>
              <a:off x="6274551" y="1628800"/>
              <a:ext cx="2376264" cy="288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05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s-ES" sz="11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s-ES" sz="11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NOISY ALERTS</a:t>
              </a:r>
            </a:p>
          </p:txBody>
        </p:sp>
        <p:pic>
          <p:nvPicPr>
            <p:cNvPr id="18" name="Imagen 17" descr="Icono&#10;&#10;El contenido generado por IA puede ser incorrecto.">
              <a:extLst>
                <a:ext uri="{FF2B5EF4-FFF2-40B4-BE49-F238E27FC236}">
                  <a16:creationId xmlns:a16="http://schemas.microsoft.com/office/drawing/2014/main" id="{1D550997-0549-DC13-23A9-6DE053BFC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9724" y="2004215"/>
              <a:ext cx="865917" cy="865917"/>
            </a:xfrm>
            <a:prstGeom prst="rect">
              <a:avLst/>
            </a:prstGeom>
          </p:spPr>
        </p:pic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2AD6FB-5472-418F-0AB8-120F15FCED74}"/>
              </a:ext>
            </a:extLst>
          </p:cNvPr>
          <p:cNvSpPr txBox="1"/>
          <p:nvPr/>
        </p:nvSpPr>
        <p:spPr>
          <a:xfrm>
            <a:off x="1835695" y="4669737"/>
            <a:ext cx="547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Montserrat" panose="00000500000000000000" pitchFamily="2" charset="0"/>
              </a:rPr>
              <a:t>Solo el 40 % de las empresas dispone de una solución real de Data </a:t>
            </a:r>
            <a:r>
              <a:rPr lang="es-ES" sz="1100" dirty="0" err="1">
                <a:latin typeface="Montserrat" panose="00000500000000000000" pitchFamily="2" charset="0"/>
              </a:rPr>
              <a:t>Quality</a:t>
            </a:r>
            <a:r>
              <a:rPr lang="es-ES" sz="1100" dirty="0">
                <a:latin typeface="Montserrat" panose="00000500000000000000" pitchFamily="2" charset="0"/>
              </a:rPr>
              <a:t>. Barreras importantes son la fricción, la escalabilidad y el ruido de alertas.</a:t>
            </a:r>
          </a:p>
        </p:txBody>
      </p:sp>
    </p:spTree>
    <p:extLst>
      <p:ext uri="{BB962C8B-B14F-4D97-AF65-F5344CB8AC3E}">
        <p14:creationId xmlns:p14="http://schemas.microsoft.com/office/powerpoint/2010/main" val="1071501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0833-8451-0E82-A3F7-99867CE1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03;g35ee5cc475b_0_63">
            <a:extLst>
              <a:ext uri="{FF2B5EF4-FFF2-40B4-BE49-F238E27FC236}">
                <a16:creationId xmlns:a16="http://schemas.microsoft.com/office/drawing/2014/main" id="{0A7049A7-2EDA-1992-0AE5-2E35A85191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dirty="0">
                <a:latin typeface="Montserrat" panose="00000500000000000000" pitchFamily="2" charset="0"/>
              </a:rPr>
              <a:t>3 Data </a:t>
            </a:r>
            <a:r>
              <a:rPr lang="es-ES" dirty="0" err="1">
                <a:latin typeface="Montserrat" panose="00000500000000000000" pitchFamily="2" charset="0"/>
              </a:rPr>
              <a:t>Quality</a:t>
            </a:r>
            <a:r>
              <a:rPr lang="es-ES" dirty="0">
                <a:latin typeface="Montserrat" panose="00000500000000000000" pitchFamily="2" charset="0"/>
              </a:rPr>
              <a:t> &amp; </a:t>
            </a:r>
            <a:r>
              <a:rPr lang="es-ES" dirty="0" err="1">
                <a:latin typeface="Montserrat" panose="00000500000000000000" pitchFamily="2" charset="0"/>
              </a:rPr>
              <a:t>Monitoring</a:t>
            </a:r>
            <a:r>
              <a:rPr lang="es-ES" dirty="0">
                <a:latin typeface="Montserrat" panose="00000500000000000000" pitchFamily="2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|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Databricks</a:t>
            </a:r>
            <a:r>
              <a:rPr lang="es-E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s-E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Solution</a:t>
            </a:r>
            <a:endParaRPr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62B0B2E-697D-7036-9CD4-99FE902F234A}"/>
              </a:ext>
            </a:extLst>
          </p:cNvPr>
          <p:cNvSpPr/>
          <p:nvPr/>
        </p:nvSpPr>
        <p:spPr>
          <a:xfrm>
            <a:off x="4460303" y="2347192"/>
            <a:ext cx="819016" cy="7256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Model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60C23B-2B02-EE0A-51C5-8784074E5858}"/>
              </a:ext>
            </a:extLst>
          </p:cNvPr>
          <p:cNvSpPr/>
          <p:nvPr/>
        </p:nvSpPr>
        <p:spPr>
          <a:xfrm>
            <a:off x="4460303" y="3377683"/>
            <a:ext cx="819016" cy="7855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Inferance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C78FED4-ECD9-21FF-377A-3F78F3251585}"/>
              </a:ext>
            </a:extLst>
          </p:cNvPr>
          <p:cNvGrpSpPr/>
          <p:nvPr/>
        </p:nvGrpSpPr>
        <p:grpSpPr>
          <a:xfrm>
            <a:off x="326797" y="2337338"/>
            <a:ext cx="3660278" cy="952517"/>
            <a:chOff x="212221" y="1844824"/>
            <a:chExt cx="4026306" cy="1152546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7516968F-6CA9-11E6-4014-8B728818473C}"/>
                </a:ext>
              </a:extLst>
            </p:cNvPr>
            <p:cNvGrpSpPr/>
            <p:nvPr/>
          </p:nvGrpSpPr>
          <p:grpSpPr>
            <a:xfrm>
              <a:off x="212221" y="1844824"/>
              <a:ext cx="4015712" cy="1152546"/>
              <a:chOff x="232252" y="1844824"/>
              <a:chExt cx="4015712" cy="1152546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60DB26A4-3060-4AC9-49A2-664AC335FDB7}"/>
                  </a:ext>
                </a:extLst>
              </p:cNvPr>
              <p:cNvSpPr/>
              <p:nvPr/>
            </p:nvSpPr>
            <p:spPr>
              <a:xfrm>
                <a:off x="23225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Bronze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Silver,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Gold</a:t>
                </a: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10F930E0-1588-4E3D-1925-F4BB31FA27CF}"/>
                  </a:ext>
                </a:extLst>
              </p:cNvPr>
              <p:cNvSpPr/>
              <p:nvPr/>
            </p:nvSpPr>
            <p:spPr>
              <a:xfrm>
                <a:off x="129479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Time</a:t>
                </a:r>
              </a:p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Series</a:t>
                </a:r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0180153B-51FD-72B8-2FC8-E3F27E9CCC25}"/>
                  </a:ext>
                </a:extLst>
              </p:cNvPr>
              <p:cNvSpPr/>
              <p:nvPr/>
            </p:nvSpPr>
            <p:spPr>
              <a:xfrm>
                <a:off x="235733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MVs</a:t>
                </a:r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,</a:t>
                </a:r>
              </a:p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STs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562B7933-05CF-B07E-2370-BB2D9D7F3EEC}"/>
                  </a:ext>
                </a:extLst>
              </p:cNvPr>
              <p:cNvSpPr/>
              <p:nvPr/>
            </p:nvSpPr>
            <p:spPr>
              <a:xfrm>
                <a:off x="3419872" y="1844824"/>
                <a:ext cx="828092" cy="8640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 err="1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Features</a:t>
                </a:r>
                <a:endPara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endParaRPr>
              </a:p>
            </p:txBody>
          </p:sp>
          <p:sp>
            <p:nvSpPr>
              <p:cNvPr id="12" name="Rectángulo: esquinas diagonales cortadas 11">
                <a:extLst>
                  <a:ext uri="{FF2B5EF4-FFF2-40B4-BE49-F238E27FC236}">
                    <a16:creationId xmlns:a16="http://schemas.microsoft.com/office/drawing/2014/main" id="{D3DB7A2B-2165-2D9F-3E2A-7C97196FFF6A}"/>
                  </a:ext>
                </a:extLst>
              </p:cNvPr>
              <p:cNvSpPr/>
              <p:nvPr/>
            </p:nvSpPr>
            <p:spPr>
              <a:xfrm>
                <a:off x="24168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3" name="Rectángulo: esquinas diagonales cortadas 12">
                <a:extLst>
                  <a:ext uri="{FF2B5EF4-FFF2-40B4-BE49-F238E27FC236}">
                    <a16:creationId xmlns:a16="http://schemas.microsoft.com/office/drawing/2014/main" id="{34478A0C-43FF-B0FB-B321-C3EEDE887B02}"/>
                  </a:ext>
                </a:extLst>
              </p:cNvPr>
              <p:cNvSpPr/>
              <p:nvPr/>
            </p:nvSpPr>
            <p:spPr>
              <a:xfrm>
                <a:off x="1304229" y="2708920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  <p:sp>
            <p:nvSpPr>
              <p:cNvPr id="14" name="Rectángulo: esquinas diagonales cortadas 13">
                <a:extLst>
                  <a:ext uri="{FF2B5EF4-FFF2-40B4-BE49-F238E27FC236}">
                    <a16:creationId xmlns:a16="http://schemas.microsoft.com/office/drawing/2014/main" id="{9658709E-B02B-0CE1-44F8-2A5387231F91}"/>
                  </a:ext>
                </a:extLst>
              </p:cNvPr>
              <p:cNvSpPr/>
              <p:nvPr/>
            </p:nvSpPr>
            <p:spPr>
              <a:xfrm>
                <a:off x="2347895" y="2709338"/>
                <a:ext cx="828092" cy="288032"/>
              </a:xfrm>
              <a:prstGeom prst="snip2Diag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900" dirty="0">
                    <a:solidFill>
                      <a:schemeClr val="tx1"/>
                    </a:solidFill>
                    <a:latin typeface="Montserrat SemiBold" panose="00000700000000000000" pitchFamily="2" charset="0"/>
                  </a:rPr>
                  <a:t>monitor</a:t>
                </a:r>
              </a:p>
            </p:txBody>
          </p:sp>
        </p:grpSp>
        <p:sp>
          <p:nvSpPr>
            <p:cNvPr id="15" name="Rectángulo: esquinas diagonales cortadas 14">
              <a:extLst>
                <a:ext uri="{FF2B5EF4-FFF2-40B4-BE49-F238E27FC236}">
                  <a16:creationId xmlns:a16="http://schemas.microsoft.com/office/drawing/2014/main" id="{451233C6-383B-D776-E8A1-7C584F075D8D}"/>
                </a:ext>
              </a:extLst>
            </p:cNvPr>
            <p:cNvSpPr/>
            <p:nvPr/>
          </p:nvSpPr>
          <p:spPr>
            <a:xfrm>
              <a:off x="3410435" y="2708920"/>
              <a:ext cx="828092" cy="288032"/>
            </a:xfrm>
            <a:prstGeom prst="snip2Diag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>
                  <a:solidFill>
                    <a:schemeClr val="tx1"/>
                  </a:solidFill>
                  <a:latin typeface="Montserrat SemiBold" panose="00000700000000000000" pitchFamily="2" charset="0"/>
                </a:rPr>
                <a:t>monitor</a:t>
              </a:r>
            </a:p>
          </p:txBody>
        </p:sp>
      </p:grpSp>
      <p:sp>
        <p:nvSpPr>
          <p:cNvPr id="16" name="Rectángulo: esquinas diagonales cortadas 15">
            <a:extLst>
              <a:ext uri="{FF2B5EF4-FFF2-40B4-BE49-F238E27FC236}">
                <a16:creationId xmlns:a16="http://schemas.microsoft.com/office/drawing/2014/main" id="{DB3BE15E-3CA0-98B7-DB13-423B117F227F}"/>
              </a:ext>
            </a:extLst>
          </p:cNvPr>
          <p:cNvSpPr/>
          <p:nvPr/>
        </p:nvSpPr>
        <p:spPr>
          <a:xfrm>
            <a:off x="4460303" y="4163225"/>
            <a:ext cx="819016" cy="261847"/>
          </a:xfrm>
          <a:prstGeom prst="snip2Diag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monitor</a:t>
            </a:r>
          </a:p>
        </p:txBody>
      </p:sp>
      <p:sp>
        <p:nvSpPr>
          <p:cNvPr id="17" name="Diagrama de flujo: disco magnético 16">
            <a:extLst>
              <a:ext uri="{FF2B5EF4-FFF2-40B4-BE49-F238E27FC236}">
                <a16:creationId xmlns:a16="http://schemas.microsoft.com/office/drawing/2014/main" id="{12AB0D8D-6096-5F8E-7DB2-59C191B80398}"/>
              </a:ext>
            </a:extLst>
          </p:cNvPr>
          <p:cNvSpPr/>
          <p:nvPr/>
        </p:nvSpPr>
        <p:spPr>
          <a:xfrm>
            <a:off x="689235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dbt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8" name="Diagrama de flujo: disco magnético 17">
            <a:extLst>
              <a:ext uri="{FF2B5EF4-FFF2-40B4-BE49-F238E27FC236}">
                <a16:creationId xmlns:a16="http://schemas.microsoft.com/office/drawing/2014/main" id="{7745731D-76B5-48D2-847E-80555EC345A1}"/>
              </a:ext>
            </a:extLst>
          </p:cNvPr>
          <p:cNvSpPr/>
          <p:nvPr/>
        </p:nvSpPr>
        <p:spPr>
          <a:xfrm>
            <a:off x="1708838" y="1373232"/>
            <a:ext cx="818655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DLT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19" name="Diagrama de flujo: disco magnético 18">
            <a:extLst>
              <a:ext uri="{FF2B5EF4-FFF2-40B4-BE49-F238E27FC236}">
                <a16:creationId xmlns:a16="http://schemas.microsoft.com/office/drawing/2014/main" id="{55B4AB1B-87B8-B785-19F2-9A88CEA0ADA9}"/>
              </a:ext>
            </a:extLst>
          </p:cNvPr>
          <p:cNvSpPr/>
          <p:nvPr/>
        </p:nvSpPr>
        <p:spPr>
          <a:xfrm>
            <a:off x="2843808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Workflows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1" name="Diagrama de flujo: disco magnético 20">
            <a:extLst>
              <a:ext uri="{FF2B5EF4-FFF2-40B4-BE49-F238E27FC236}">
                <a16:creationId xmlns:a16="http://schemas.microsoft.com/office/drawing/2014/main" id="{3A120D3A-75B4-C73F-0FD6-41AC5C7EDAA8}"/>
              </a:ext>
            </a:extLst>
          </p:cNvPr>
          <p:cNvSpPr/>
          <p:nvPr/>
        </p:nvSpPr>
        <p:spPr>
          <a:xfrm>
            <a:off x="4081612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DB </a:t>
            </a:r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23" name="Diagrama de flujo: disco magnético 22">
            <a:extLst>
              <a:ext uri="{FF2B5EF4-FFF2-40B4-BE49-F238E27FC236}">
                <a16:creationId xmlns:a16="http://schemas.microsoft.com/office/drawing/2014/main" id="{EFFCA8CA-5C16-EB0B-E86A-41C8F7FD2FC5}"/>
              </a:ext>
            </a:extLst>
          </p:cNvPr>
          <p:cNvSpPr/>
          <p:nvPr/>
        </p:nvSpPr>
        <p:spPr>
          <a:xfrm>
            <a:off x="5353440" y="1373232"/>
            <a:ext cx="1008112" cy="399584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Montserrat SemiBold" panose="00000700000000000000" pitchFamily="2" charset="0"/>
              </a:rPr>
              <a:t>3rd-party</a:t>
            </a:r>
          </a:p>
          <a:p>
            <a:pPr algn="ctr"/>
            <a:r>
              <a:rPr lang="es-ES" sz="10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Serving</a:t>
            </a:r>
            <a:endParaRPr lang="es-ES" sz="14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0DCAE99E-F198-2C52-2EBA-7A1796DF305F}"/>
              </a:ext>
            </a:extLst>
          </p:cNvPr>
          <p:cNvCxnSpPr>
            <a:cxnSpLocks/>
            <a:stCxn id="21" idx="3"/>
            <a:endCxn id="10" idx="0"/>
          </p:cNvCxnSpPr>
          <p:nvPr/>
        </p:nvCxnSpPr>
        <p:spPr>
          <a:xfrm rot="16200000" flipH="1">
            <a:off x="4440551" y="1917932"/>
            <a:ext cx="574376" cy="284143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D80843D3-4833-D031-D563-9461E95260DB}"/>
              </a:ext>
            </a:extLst>
          </p:cNvPr>
          <p:cNvCxnSpPr>
            <a:cxnSpLocks/>
            <a:stCxn id="23" idx="3"/>
            <a:endCxn id="10" idx="0"/>
          </p:cNvCxnSpPr>
          <p:nvPr/>
        </p:nvCxnSpPr>
        <p:spPr>
          <a:xfrm rot="5400000">
            <a:off x="5076466" y="1566162"/>
            <a:ext cx="574376" cy="9876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curvado 31">
            <a:extLst>
              <a:ext uri="{FF2B5EF4-FFF2-40B4-BE49-F238E27FC236}">
                <a16:creationId xmlns:a16="http://schemas.microsoft.com/office/drawing/2014/main" id="{3B34AD4C-FA9F-D187-FB08-879992926644}"/>
              </a:ext>
            </a:extLst>
          </p:cNvPr>
          <p:cNvCxnSpPr>
            <a:cxnSpLocks/>
            <a:stCxn id="19" idx="3"/>
            <a:endCxn id="10" idx="0"/>
          </p:cNvCxnSpPr>
          <p:nvPr/>
        </p:nvCxnSpPr>
        <p:spPr>
          <a:xfrm rot="16200000" flipH="1">
            <a:off x="3821649" y="1299030"/>
            <a:ext cx="574376" cy="152194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CE251468-CFD2-6A34-D069-364EE0D8C7E4}"/>
              </a:ext>
            </a:extLst>
          </p:cNvPr>
          <p:cNvCxnSpPr>
            <a:cxnSpLocks/>
            <a:stCxn id="19" idx="3"/>
            <a:endCxn id="9" idx="0"/>
          </p:cNvCxnSpPr>
          <p:nvPr/>
        </p:nvCxnSpPr>
        <p:spPr>
          <a:xfrm rot="16200000" flipH="1">
            <a:off x="3192190" y="1928489"/>
            <a:ext cx="564522" cy="25317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curvado 38">
            <a:extLst>
              <a:ext uri="{FF2B5EF4-FFF2-40B4-BE49-F238E27FC236}">
                <a16:creationId xmlns:a16="http://schemas.microsoft.com/office/drawing/2014/main" id="{CAED9D62-6A40-49CC-F7F6-3CD37CAD1C55}"/>
              </a:ext>
            </a:extLst>
          </p:cNvPr>
          <p:cNvCxnSpPr>
            <a:cxnSpLocks/>
            <a:stCxn id="19" idx="3"/>
            <a:endCxn id="8" idx="0"/>
          </p:cNvCxnSpPr>
          <p:nvPr/>
        </p:nvCxnSpPr>
        <p:spPr>
          <a:xfrm rot="5400000">
            <a:off x="2709218" y="1698692"/>
            <a:ext cx="564522" cy="71277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9EAD6976-CD0A-C718-F9BA-C098B0457A83}"/>
              </a:ext>
            </a:extLst>
          </p:cNvPr>
          <p:cNvCxnSpPr>
            <a:cxnSpLocks/>
            <a:stCxn id="18" idx="3"/>
            <a:endCxn id="9" idx="0"/>
          </p:cNvCxnSpPr>
          <p:nvPr/>
        </p:nvCxnSpPr>
        <p:spPr>
          <a:xfrm rot="16200000" flipH="1">
            <a:off x="2577341" y="1313640"/>
            <a:ext cx="564522" cy="148287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curvado 44">
            <a:extLst>
              <a:ext uri="{FF2B5EF4-FFF2-40B4-BE49-F238E27FC236}">
                <a16:creationId xmlns:a16="http://schemas.microsoft.com/office/drawing/2014/main" id="{433F5D9C-B982-ACE8-4FF9-72CE584EAD8E}"/>
              </a:ext>
            </a:extLst>
          </p:cNvPr>
          <p:cNvCxnSpPr>
            <a:cxnSpLocks/>
            <a:stCxn id="18" idx="3"/>
            <a:endCxn id="7" idx="0"/>
          </p:cNvCxnSpPr>
          <p:nvPr/>
        </p:nvCxnSpPr>
        <p:spPr>
          <a:xfrm rot="5400000">
            <a:off x="1611396" y="1830568"/>
            <a:ext cx="564522" cy="44901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775A27CB-7630-E5F1-3C87-EF580F8247A8}"/>
              </a:ext>
            </a:extLst>
          </p:cNvPr>
          <p:cNvCxnSpPr>
            <a:cxnSpLocks/>
            <a:stCxn id="18" idx="3"/>
            <a:endCxn id="6" idx="0"/>
          </p:cNvCxnSpPr>
          <p:nvPr/>
        </p:nvCxnSpPr>
        <p:spPr>
          <a:xfrm rot="5400000">
            <a:off x="1128424" y="1347596"/>
            <a:ext cx="564522" cy="141496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curvado 50">
            <a:extLst>
              <a:ext uri="{FF2B5EF4-FFF2-40B4-BE49-F238E27FC236}">
                <a16:creationId xmlns:a16="http://schemas.microsoft.com/office/drawing/2014/main" id="{921F937A-A52F-E170-B432-372CE079074B}"/>
              </a:ext>
            </a:extLst>
          </p:cNvPr>
          <p:cNvCxnSpPr>
            <a:cxnSpLocks/>
            <a:stCxn id="17" idx="3"/>
            <a:endCxn id="6" idx="0"/>
          </p:cNvCxnSpPr>
          <p:nvPr/>
        </p:nvCxnSpPr>
        <p:spPr>
          <a:xfrm rot="5400000">
            <a:off x="618622" y="1857397"/>
            <a:ext cx="564522" cy="39536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curvado 53">
            <a:extLst>
              <a:ext uri="{FF2B5EF4-FFF2-40B4-BE49-F238E27FC236}">
                <a16:creationId xmlns:a16="http://schemas.microsoft.com/office/drawing/2014/main" id="{9CD2060B-15A9-E762-8750-9280A4C2F819}"/>
              </a:ext>
            </a:extLst>
          </p:cNvPr>
          <p:cNvCxnSpPr>
            <a:cxnSpLocks/>
            <a:stCxn id="17" idx="3"/>
            <a:endCxn id="7" idx="0"/>
          </p:cNvCxnSpPr>
          <p:nvPr/>
        </p:nvCxnSpPr>
        <p:spPr>
          <a:xfrm rot="16200000" flipH="1">
            <a:off x="1101594" y="1769784"/>
            <a:ext cx="564522" cy="5705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curvado 56">
            <a:extLst>
              <a:ext uri="{FF2B5EF4-FFF2-40B4-BE49-F238E27FC236}">
                <a16:creationId xmlns:a16="http://schemas.microsoft.com/office/drawing/2014/main" id="{C89F5A9C-6520-2B42-9D8A-BFF5DD91B156}"/>
              </a:ext>
            </a:extLst>
          </p:cNvPr>
          <p:cNvCxnSpPr>
            <a:cxnSpLocks/>
            <a:stCxn id="17" idx="3"/>
            <a:endCxn id="8" idx="0"/>
          </p:cNvCxnSpPr>
          <p:nvPr/>
        </p:nvCxnSpPr>
        <p:spPr>
          <a:xfrm rot="16200000" flipH="1">
            <a:off x="1584567" y="1286811"/>
            <a:ext cx="564522" cy="153653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curvado 59">
            <a:extLst>
              <a:ext uri="{FF2B5EF4-FFF2-40B4-BE49-F238E27FC236}">
                <a16:creationId xmlns:a16="http://schemas.microsoft.com/office/drawing/2014/main" id="{E43952EB-9A31-B186-E27C-82A3FB577837}"/>
              </a:ext>
            </a:extLst>
          </p:cNvPr>
          <p:cNvCxnSpPr>
            <a:cxnSpLocks/>
            <a:stCxn id="17" idx="3"/>
            <a:endCxn id="9" idx="0"/>
          </p:cNvCxnSpPr>
          <p:nvPr/>
        </p:nvCxnSpPr>
        <p:spPr>
          <a:xfrm rot="16200000" flipH="1">
            <a:off x="2067540" y="803839"/>
            <a:ext cx="564522" cy="250247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0CE98827-8974-93EB-C1B6-EC9E581C9E6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869811" y="3072800"/>
            <a:ext cx="0" cy="304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DCD39BD6-E3A8-EB14-1430-79F892A7BAAE}"/>
              </a:ext>
            </a:extLst>
          </p:cNvPr>
          <p:cNvSpPr/>
          <p:nvPr/>
        </p:nvSpPr>
        <p:spPr>
          <a:xfrm>
            <a:off x="6194170" y="299493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Dashboard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F0AAE522-D714-7631-80F3-7FAD1CF697DA}"/>
              </a:ext>
            </a:extLst>
          </p:cNvPr>
          <p:cNvSpPr/>
          <p:nvPr/>
        </p:nvSpPr>
        <p:spPr>
          <a:xfrm>
            <a:off x="6233075" y="3826969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Profiling</a:t>
            </a:r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 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62234979-F673-1D46-2CB0-AF4B172CED85}"/>
              </a:ext>
            </a:extLst>
          </p:cNvPr>
          <p:cNvSpPr/>
          <p:nvPr/>
        </p:nvSpPr>
        <p:spPr>
          <a:xfrm>
            <a:off x="6233075" y="4685062"/>
            <a:ext cx="1078634" cy="5891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Data</a:t>
            </a:r>
          </a:p>
          <a:p>
            <a:pPr algn="ctr"/>
            <a:r>
              <a:rPr lang="es-ES" sz="900" dirty="0" err="1">
                <a:solidFill>
                  <a:schemeClr val="tx1"/>
                </a:solidFill>
                <a:latin typeface="Montserrat SemiBold" panose="00000700000000000000" pitchFamily="2" charset="0"/>
              </a:rPr>
              <a:t>Drift</a:t>
            </a:r>
            <a:endParaRPr lang="es-ES" sz="900" dirty="0">
              <a:solidFill>
                <a:schemeClr val="tx1"/>
              </a:solidFill>
              <a:latin typeface="Montserrat SemiBold" panose="00000700000000000000" pitchFamily="2" charset="0"/>
            </a:endParaRPr>
          </a:p>
          <a:p>
            <a:pPr algn="ctr"/>
            <a:r>
              <a:rPr lang="es-ES" sz="900" dirty="0">
                <a:solidFill>
                  <a:schemeClr val="tx1"/>
                </a:solidFill>
                <a:latin typeface="Montserrat SemiBold" panose="00000700000000000000" pitchFamily="2" charset="0"/>
              </a:rPr>
              <a:t>Table</a:t>
            </a:r>
          </a:p>
        </p:txBody>
      </p:sp>
      <p:cxnSp>
        <p:nvCxnSpPr>
          <p:cNvPr id="69" name="Conector: curvado 68">
            <a:extLst>
              <a:ext uri="{FF2B5EF4-FFF2-40B4-BE49-F238E27FC236}">
                <a16:creationId xmlns:a16="http://schemas.microsoft.com/office/drawing/2014/main" id="{B22448E4-8F4B-CF35-4D2E-80EFCDAFA267}"/>
              </a:ext>
            </a:extLst>
          </p:cNvPr>
          <p:cNvCxnSpPr>
            <a:cxnSpLocks/>
            <a:stCxn id="16" idx="0"/>
            <a:endCxn id="65" idx="1"/>
          </p:cNvCxnSpPr>
          <p:nvPr/>
        </p:nvCxnSpPr>
        <p:spPr>
          <a:xfrm flipV="1">
            <a:off x="5279319" y="3289510"/>
            <a:ext cx="914851" cy="100463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: curvado 69">
            <a:extLst>
              <a:ext uri="{FF2B5EF4-FFF2-40B4-BE49-F238E27FC236}">
                <a16:creationId xmlns:a16="http://schemas.microsoft.com/office/drawing/2014/main" id="{3742AC32-B037-BE3D-B5BC-E6682326E72E}"/>
              </a:ext>
            </a:extLst>
          </p:cNvPr>
          <p:cNvCxnSpPr>
            <a:cxnSpLocks/>
            <a:stCxn id="16" idx="0"/>
            <a:endCxn id="66" idx="1"/>
          </p:cNvCxnSpPr>
          <p:nvPr/>
        </p:nvCxnSpPr>
        <p:spPr>
          <a:xfrm flipV="1">
            <a:off x="5279319" y="4121547"/>
            <a:ext cx="953756" cy="17260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: curvado 72">
            <a:extLst>
              <a:ext uri="{FF2B5EF4-FFF2-40B4-BE49-F238E27FC236}">
                <a16:creationId xmlns:a16="http://schemas.microsoft.com/office/drawing/2014/main" id="{983EA167-B9D3-2F1E-7C5E-76F979E5F0CF}"/>
              </a:ext>
            </a:extLst>
          </p:cNvPr>
          <p:cNvCxnSpPr>
            <a:cxnSpLocks/>
            <a:stCxn id="16" idx="0"/>
            <a:endCxn id="67" idx="1"/>
          </p:cNvCxnSpPr>
          <p:nvPr/>
        </p:nvCxnSpPr>
        <p:spPr>
          <a:xfrm>
            <a:off x="5279319" y="4294149"/>
            <a:ext cx="953756" cy="68549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curvado 75">
            <a:extLst>
              <a:ext uri="{FF2B5EF4-FFF2-40B4-BE49-F238E27FC236}">
                <a16:creationId xmlns:a16="http://schemas.microsoft.com/office/drawing/2014/main" id="{C4DE6DFE-8288-4F42-A78B-1570ED90F576}"/>
              </a:ext>
            </a:extLst>
          </p:cNvPr>
          <p:cNvCxnSpPr>
            <a:cxnSpLocks/>
            <a:stCxn id="67" idx="3"/>
            <a:endCxn id="143" idx="1"/>
          </p:cNvCxnSpPr>
          <p:nvPr/>
        </p:nvCxnSpPr>
        <p:spPr>
          <a:xfrm flipV="1">
            <a:off x="7311709" y="4109483"/>
            <a:ext cx="464137" cy="87015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curvado 78">
            <a:extLst>
              <a:ext uri="{FF2B5EF4-FFF2-40B4-BE49-F238E27FC236}">
                <a16:creationId xmlns:a16="http://schemas.microsoft.com/office/drawing/2014/main" id="{0F663A54-4B7F-3FFC-642C-F1393D7966BF}"/>
              </a:ext>
            </a:extLst>
          </p:cNvPr>
          <p:cNvCxnSpPr>
            <a:cxnSpLocks/>
            <a:stCxn id="66" idx="3"/>
            <a:endCxn id="143" idx="1"/>
          </p:cNvCxnSpPr>
          <p:nvPr/>
        </p:nvCxnSpPr>
        <p:spPr>
          <a:xfrm flipV="1">
            <a:off x="7311709" y="4109483"/>
            <a:ext cx="464137" cy="1206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Imagen 138" descr="Icono&#10;&#10;El contenido generado por IA puede ser incorrecto.">
            <a:extLst>
              <a:ext uri="{FF2B5EF4-FFF2-40B4-BE49-F238E27FC236}">
                <a16:creationId xmlns:a16="http://schemas.microsoft.com/office/drawing/2014/main" id="{B61ED12B-7EFD-9EFF-6A73-EFD9162EF4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195" y="3609135"/>
            <a:ext cx="308539" cy="308539"/>
          </a:xfrm>
          <a:prstGeom prst="rect">
            <a:avLst/>
          </a:prstGeom>
        </p:spPr>
      </p:pic>
      <p:sp>
        <p:nvSpPr>
          <p:cNvPr id="143" name="CuadroTexto 142">
            <a:extLst>
              <a:ext uri="{FF2B5EF4-FFF2-40B4-BE49-F238E27FC236}">
                <a16:creationId xmlns:a16="http://schemas.microsoft.com/office/drawing/2014/main" id="{82280FF0-1C14-8DEA-7F4A-2F03BBCD1383}"/>
              </a:ext>
            </a:extLst>
          </p:cNvPr>
          <p:cNvSpPr txBox="1"/>
          <p:nvPr/>
        </p:nvSpPr>
        <p:spPr>
          <a:xfrm>
            <a:off x="7775846" y="3924817"/>
            <a:ext cx="97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>
                <a:latin typeface="Montserrat SemiBold" panose="00000700000000000000" pitchFamily="2" charset="0"/>
              </a:rPr>
              <a:t>Expectations</a:t>
            </a:r>
            <a:r>
              <a:rPr lang="es-ES" sz="900" dirty="0">
                <a:latin typeface="Montserrat SemiBold" panose="00000700000000000000" pitchFamily="2" charset="0"/>
              </a:rPr>
              <a:t> and </a:t>
            </a:r>
            <a:r>
              <a:rPr lang="es-ES" sz="900" dirty="0" err="1">
                <a:latin typeface="Montserrat SemiBold" panose="00000700000000000000" pitchFamily="2" charset="0"/>
              </a:rPr>
              <a:t>alerts</a:t>
            </a:r>
            <a:endParaRPr lang="es-ES" sz="900" dirty="0">
              <a:latin typeface="Montserrat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171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ECF74-BA56-20E2-2186-D1D31AC5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06EB61A-0F5C-46FF-E0D2-B6600D733792}"/>
              </a:ext>
            </a:extLst>
          </p:cNvPr>
          <p:cNvSpPr txBox="1"/>
          <p:nvPr/>
        </p:nvSpPr>
        <p:spPr>
          <a:xfrm>
            <a:off x="2483768" y="2537901"/>
            <a:ext cx="41764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DATA QUALITY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3760303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infopath/2007/PartnerControls"/>
    <ds:schemaRef ds:uri="e24c3f89-b1e2-4b5c-81e1-9b07710f5189"/>
    <ds:schemaRef ds:uri="ce845bb0-6f82-4cf9-8b02-3916bb6268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21452</TotalTime>
  <Words>3095</Words>
  <Application>Microsoft Office PowerPoint</Application>
  <PresentationFormat>Presentación en pantalla (4:3)</PresentationFormat>
  <Paragraphs>430</Paragraphs>
  <Slides>26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Montserrat</vt:lpstr>
      <vt:lpstr>Montserrat SemiBold</vt:lpstr>
      <vt:lpstr>Sans Serif Collection</vt:lpstr>
      <vt:lpstr>Diseño personalizado</vt:lpstr>
      <vt:lpstr>Presentación de PowerPoint</vt:lpstr>
      <vt:lpstr>Indice de la Sesión 3</vt:lpstr>
      <vt:lpstr>Presentación de PowerPoint</vt:lpstr>
      <vt:lpstr>0. Introducción a UC | Continuamos con…</vt:lpstr>
      <vt:lpstr>Presentación de PowerPoint</vt:lpstr>
      <vt:lpstr>1. Data Lineage | ¿Porque es data lineage importante?</vt:lpstr>
      <vt:lpstr>Presentación de PowerPoint</vt:lpstr>
      <vt:lpstr>Presentación de PowerPoint</vt:lpstr>
      <vt:lpstr>2. Data Sharing | Opciones disponibles</vt:lpstr>
      <vt:lpstr>2. Data Sharing | Delta Sharing</vt:lpstr>
      <vt:lpstr>2. Data Sharing | Data Marketplace</vt:lpstr>
      <vt:lpstr>2. Data Sharing | Databricks Clean Rooms</vt:lpstr>
      <vt:lpstr>Presentación de PowerPoint</vt:lpstr>
      <vt:lpstr>3. Auditoria de datos | Systems Tables</vt:lpstr>
      <vt:lpstr>3 Auditoria de datos | Systems Tables: Objects Metadata</vt:lpstr>
      <vt:lpstr>3 Auditoria de datos | Systems Tables: Audit Logs</vt:lpstr>
      <vt:lpstr>3 Auditoria de datos | Systems Tables: Billing Logs</vt:lpstr>
      <vt:lpstr>3 Auditoria de datos | Systems Tables: Lineage</vt:lpstr>
      <vt:lpstr>3 Auditoria de datos | Systems Tables: Dashboard</vt:lpstr>
      <vt:lpstr>Presentación de PowerPoint</vt:lpstr>
      <vt:lpstr>Presentación de PowerPoint</vt:lpstr>
      <vt:lpstr>3 Data Quality &amp; Monitoring | ¿Qué es data quality?</vt:lpstr>
      <vt:lpstr>3 Data Quality &amp; Monitoring | Retos de Data Quality</vt:lpstr>
      <vt:lpstr>3 Data Quality &amp; Monitoring | Databricks Solution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465</cp:revision>
  <cp:lastPrinted>2018-06-15T07:54:48Z</cp:lastPrinted>
  <dcterms:created xsi:type="dcterms:W3CDTF">2014-05-13T08:36:54Z</dcterms:created>
  <dcterms:modified xsi:type="dcterms:W3CDTF">2025-11-03T10:39:11Z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